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4" r:id="rId9"/>
    <p:sldId id="265" r:id="rId10"/>
    <p:sldId id="25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AF782-8073-7848-3FF6-DE2EE62F8E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7C89AA-F3A8-BEB4-0891-5772879F7F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7BF652-E16E-CC83-506F-5B7AB5353B4E}"/>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5" name="Footer Placeholder 4">
            <a:extLst>
              <a:ext uri="{FF2B5EF4-FFF2-40B4-BE49-F238E27FC236}">
                <a16:creationId xmlns:a16="http://schemas.microsoft.com/office/drawing/2014/main" id="{0C5956FA-3A62-AFE6-66BE-ABBAA1D178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EA0453-B9E7-E3D7-3BAC-85E88C0628DC}"/>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1960743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15376-F5B9-C3E2-B326-D9E22A433C8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0D2FEF-05E0-BF2A-FBA0-18C8A6D0A4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A5B942-CF32-F3C1-614E-50B21F6CC24E}"/>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5" name="Footer Placeholder 4">
            <a:extLst>
              <a:ext uri="{FF2B5EF4-FFF2-40B4-BE49-F238E27FC236}">
                <a16:creationId xmlns:a16="http://schemas.microsoft.com/office/drawing/2014/main" id="{5B8D3248-F7C8-22A5-B32E-461EAADD37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00103D-C579-13F1-84DC-2C587A3AD2E8}"/>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2377649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42D2A-187B-F079-1B00-4101E386B4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BEC6983-5034-721C-7CAB-202AC4145E7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554864-64D4-0123-8727-367CC9D324AD}"/>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5" name="Footer Placeholder 4">
            <a:extLst>
              <a:ext uri="{FF2B5EF4-FFF2-40B4-BE49-F238E27FC236}">
                <a16:creationId xmlns:a16="http://schemas.microsoft.com/office/drawing/2014/main" id="{944C3F0D-CCD9-5777-02C2-8CBBCD8279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4FC691-B61E-4642-9E91-BFFBD04BEC9B}"/>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2597229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22B12-8772-1EDB-0831-4C49653B94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AAA08F-7D94-7C88-6906-6B5AFB562E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01219A-17CC-1A55-46F6-777C8D9479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1DA895D-3FD8-C172-8E07-920A743AB060}"/>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6" name="Footer Placeholder 5">
            <a:extLst>
              <a:ext uri="{FF2B5EF4-FFF2-40B4-BE49-F238E27FC236}">
                <a16:creationId xmlns:a16="http://schemas.microsoft.com/office/drawing/2014/main" id="{D19B6B94-C35E-5332-C405-4357ED5DDC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D1577A-8063-CC41-2F67-9EDB6AD14466}"/>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1336784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A27A5-CA69-6E09-B9D4-F64BD677795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F14FF6-8357-AEDD-CB57-4B89D72014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01700F-71A4-AA4B-E678-7D0BB2C54E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7F6571-C5D3-8965-5FA0-157A568A02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F1D755-AFC1-3E04-B515-0E6A03E474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DCB9CD6-E752-9119-C0E6-C9D882F69575}"/>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8" name="Footer Placeholder 7">
            <a:extLst>
              <a:ext uri="{FF2B5EF4-FFF2-40B4-BE49-F238E27FC236}">
                <a16:creationId xmlns:a16="http://schemas.microsoft.com/office/drawing/2014/main" id="{820FC949-5458-A57A-5684-D1A8CD7E16E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8B9C1CD-4256-833F-C0FB-9CED168B7568}"/>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512410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56407-168A-3F2F-535E-547FD7AF70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5BA3C3B-A5C5-86CD-010D-9224DEE30F5C}"/>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4" name="Footer Placeholder 3">
            <a:extLst>
              <a:ext uri="{FF2B5EF4-FFF2-40B4-BE49-F238E27FC236}">
                <a16:creationId xmlns:a16="http://schemas.microsoft.com/office/drawing/2014/main" id="{8FE6593E-39D9-6CEE-A75B-2063A13630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B18F36D-7105-F01C-2FB2-8B1DADD1093E}"/>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2439691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E84FAB-1631-86BC-0318-E36950A1B122}"/>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3" name="Footer Placeholder 2">
            <a:extLst>
              <a:ext uri="{FF2B5EF4-FFF2-40B4-BE49-F238E27FC236}">
                <a16:creationId xmlns:a16="http://schemas.microsoft.com/office/drawing/2014/main" id="{B8DAC4A4-0B0A-14ED-BCFC-F8EEF9655FB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6B5759-25E6-B8EE-16D1-2CD0887F6248}"/>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191396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BD975-A852-E811-AE25-BD46B0EEAB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27DAA4F-BBED-E334-7B45-02F90E62A2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F4AF98-DDFE-2A85-2697-3382EE5EEC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8A93D-89E7-D92A-F0C4-75CA93F3EA0E}"/>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6" name="Footer Placeholder 5">
            <a:extLst>
              <a:ext uri="{FF2B5EF4-FFF2-40B4-BE49-F238E27FC236}">
                <a16:creationId xmlns:a16="http://schemas.microsoft.com/office/drawing/2014/main" id="{7F00DA1A-D613-8E43-5FA9-0FC55B2B905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74270F-EADC-CF0F-350F-7F3FF202F7C8}"/>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2946572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1EA7B-EE86-AD23-0093-682C37ED16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0DB3647-05DB-0D22-81CB-3286B0ECA05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A2A6A6-A1CF-D19F-2B6D-0EAA985E0E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B680AD-829B-BBAB-3128-CD151E90E40D}"/>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6" name="Footer Placeholder 5">
            <a:extLst>
              <a:ext uri="{FF2B5EF4-FFF2-40B4-BE49-F238E27FC236}">
                <a16:creationId xmlns:a16="http://schemas.microsoft.com/office/drawing/2014/main" id="{69958271-23BB-8129-4B4D-4B99C51020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F663180-01A1-BDA9-9CA4-4757E89181D0}"/>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3513080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16D27-3B34-B09A-C5B7-35E226C44FE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BDFD82-5675-1A8F-0F5A-42C41B6F39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899477-5D36-4D13-3A7B-E9DCE0ACDC9B}"/>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5" name="Footer Placeholder 4">
            <a:extLst>
              <a:ext uri="{FF2B5EF4-FFF2-40B4-BE49-F238E27FC236}">
                <a16:creationId xmlns:a16="http://schemas.microsoft.com/office/drawing/2014/main" id="{864900CE-3935-6A0A-37DA-D14D380DED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5D9715-5DDC-2FBB-829F-FE7F698D4704}"/>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740739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B99CC6-4E6F-AEC4-C45D-192B0C5FC3A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F42C14-D939-225A-4D67-48B1A3D0C2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E23FD0-3382-A6AB-B6BC-F15676DC5BB4}"/>
              </a:ext>
            </a:extLst>
          </p:cNvPr>
          <p:cNvSpPr>
            <a:spLocks noGrp="1"/>
          </p:cNvSpPr>
          <p:nvPr>
            <p:ph type="dt" sz="half" idx="10"/>
          </p:nvPr>
        </p:nvSpPr>
        <p:spPr/>
        <p:txBody>
          <a:bodyPr/>
          <a:lstStyle/>
          <a:p>
            <a:fld id="{568DE526-AA8B-49FE-A263-541481C94CCA}" type="datetimeFigureOut">
              <a:rPr lang="en-IN" smtClean="0"/>
              <a:t>07-10-2026</a:t>
            </a:fld>
            <a:endParaRPr lang="en-IN"/>
          </a:p>
        </p:txBody>
      </p:sp>
      <p:sp>
        <p:nvSpPr>
          <p:cNvPr id="5" name="Footer Placeholder 4">
            <a:extLst>
              <a:ext uri="{FF2B5EF4-FFF2-40B4-BE49-F238E27FC236}">
                <a16:creationId xmlns:a16="http://schemas.microsoft.com/office/drawing/2014/main" id="{AC806269-5110-A8E7-00D2-D2A025554C0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CB6042-1365-5390-814F-884EAD8ADC09}"/>
              </a:ext>
            </a:extLst>
          </p:cNvPr>
          <p:cNvSpPr>
            <a:spLocks noGrp="1"/>
          </p:cNvSpPr>
          <p:nvPr>
            <p:ph type="sldNum" sz="quarter" idx="12"/>
          </p:nvPr>
        </p:nvSpPr>
        <p:spPr/>
        <p:txBody>
          <a:bodyPr/>
          <a:lstStyle/>
          <a:p>
            <a:fld id="{6583E3CC-D83F-4B86-AE7E-EDF0F0FAB546}" type="slidenum">
              <a:rPr lang="en-IN" smtClean="0"/>
              <a:t>‹#›</a:t>
            </a:fld>
            <a:endParaRPr lang="en-IN"/>
          </a:p>
        </p:txBody>
      </p:sp>
    </p:spTree>
    <p:extLst>
      <p:ext uri="{BB962C8B-B14F-4D97-AF65-F5344CB8AC3E}">
        <p14:creationId xmlns:p14="http://schemas.microsoft.com/office/powerpoint/2010/main" val="4269176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90">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200821-3328-FF33-7CFE-645A9181BE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77C54B-017A-403C-3594-DC5B5FC65D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768ED3-E0EE-AFFE-8779-F0BE0F05B0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68DE526-AA8B-49FE-A263-541481C94CCA}" type="datetimeFigureOut">
              <a:rPr lang="en-IN" smtClean="0"/>
              <a:t>07-10-2026</a:t>
            </a:fld>
            <a:endParaRPr lang="en-IN"/>
          </a:p>
        </p:txBody>
      </p:sp>
      <p:sp>
        <p:nvSpPr>
          <p:cNvPr id="5" name="Footer Placeholder 4">
            <a:extLst>
              <a:ext uri="{FF2B5EF4-FFF2-40B4-BE49-F238E27FC236}">
                <a16:creationId xmlns:a16="http://schemas.microsoft.com/office/drawing/2014/main" id="{BF7F1377-385B-1F3D-A172-0990BC974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1A906A9-7F02-39BD-627C-286F53830B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583E3CC-D83F-4B86-AE7E-EDF0F0FAB546}" type="slidenum">
              <a:rPr lang="en-IN" smtClean="0"/>
              <a:t>‹#›</a:t>
            </a:fld>
            <a:endParaRPr lang="en-IN"/>
          </a:p>
        </p:txBody>
      </p:sp>
    </p:spTree>
    <p:extLst>
      <p:ext uri="{BB962C8B-B14F-4D97-AF65-F5344CB8AC3E}">
        <p14:creationId xmlns:p14="http://schemas.microsoft.com/office/powerpoint/2010/main" val="3122212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64A8A1-BE3E-14E7-170C-9C3EB0F9A201}"/>
              </a:ext>
            </a:extLst>
          </p:cNvPr>
          <p:cNvSpPr>
            <a:spLocks noGrp="1"/>
          </p:cNvSpPr>
          <p:nvPr>
            <p:ph type="ctrTitle"/>
          </p:nvPr>
        </p:nvSpPr>
        <p:spPr>
          <a:xfrm>
            <a:off x="1602658" y="367225"/>
            <a:ext cx="9144000" cy="1655762"/>
          </a:xfrm>
          <a:solidFill>
            <a:schemeClr val="accent5">
              <a:lumMod val="60000"/>
              <a:lumOff val="40000"/>
            </a:schemeClr>
          </a:solidFill>
        </p:spPr>
        <p:txBody>
          <a:bodyPr>
            <a:normAutofit fontScale="90000"/>
          </a:bodyPr>
          <a:lstStyle/>
          <a:p>
            <a:r>
              <a:rPr lang="en-IN" b="1" dirty="0"/>
              <a:t>End-to-End Zomato Analytics And Sentiment Intelligence</a:t>
            </a:r>
          </a:p>
        </p:txBody>
      </p:sp>
      <p:sp>
        <p:nvSpPr>
          <p:cNvPr id="4" name="Subtitle 3">
            <a:extLst>
              <a:ext uri="{FF2B5EF4-FFF2-40B4-BE49-F238E27FC236}">
                <a16:creationId xmlns:a16="http://schemas.microsoft.com/office/drawing/2014/main" id="{95E1FC6F-550D-0271-A8AE-A8ACE54A466A}"/>
              </a:ext>
            </a:extLst>
          </p:cNvPr>
          <p:cNvSpPr>
            <a:spLocks noGrp="1"/>
          </p:cNvSpPr>
          <p:nvPr>
            <p:ph type="subTitle" idx="1"/>
          </p:nvPr>
        </p:nvSpPr>
        <p:spPr>
          <a:xfrm>
            <a:off x="1602658" y="2196025"/>
            <a:ext cx="9144000" cy="802814"/>
          </a:xfrm>
          <a:solidFill>
            <a:schemeClr val="accent3">
              <a:lumMod val="60000"/>
              <a:lumOff val="40000"/>
            </a:schemeClr>
          </a:solidFill>
        </p:spPr>
        <p:txBody>
          <a:bodyPr/>
          <a:lstStyle/>
          <a:p>
            <a:r>
              <a:rPr lang="en-IN" b="1" dirty="0"/>
              <a:t>Decoding Customer Satisfaction And Operational Bottlenecks Across the Hyderabad Dining Corridor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0163A97-CD36-12D2-9DDB-DE02CADA9D6E}"/>
                  </a:ext>
                </a:extLst>
              </p:cNvPr>
              <p:cNvSpPr txBox="1"/>
              <p:nvPr/>
            </p:nvSpPr>
            <p:spPr>
              <a:xfrm>
                <a:off x="707922" y="3189083"/>
                <a:ext cx="10933471" cy="2585323"/>
              </a:xfrm>
              <a:prstGeom prst="rect">
                <a:avLst/>
              </a:prstGeom>
              <a:solidFill>
                <a:schemeClr val="accent5">
                  <a:lumMod val="20000"/>
                  <a:lumOff val="80000"/>
                </a:schemeClr>
              </a:solidFill>
            </p:spPr>
            <p:txBody>
              <a:bodyPr wrap="square" rtlCol="0">
                <a:spAutoFit/>
              </a:bodyPr>
              <a:lstStyle/>
              <a:p>
                <a:pPr marL="742950" lvl="1" indent="-285750">
                  <a:buFont typeface="Arial" panose="020B0604020202020204" pitchFamily="34" charset="0"/>
                  <a:buChar char="•"/>
                </a:pPr>
                <a:r>
                  <a:rPr lang="en-IN" b="1" dirty="0"/>
                  <a:t>Dataset Scope:</a:t>
                </a:r>
                <a:r>
                  <a:rPr lang="en-IN" dirty="0"/>
                  <a:t> Multi-table analysis combining granular restaurant metadata (</a:t>
                </a:r>
                <a14:m>
                  <m:oMath xmlns:m="http://schemas.openxmlformats.org/officeDocument/2006/math">
                    <m:r>
                      <a:rPr lang="en-IN">
                        <a:latin typeface="Cambria Math" panose="02040503050406030204" pitchFamily="18" charset="0"/>
                      </a:rPr>
                      <m:t>105</m:t>
                    </m:r>
                  </m:oMath>
                </a14:m>
                <a:r>
                  <a:rPr lang="en-IN" dirty="0"/>
                  <a:t> raw listings) with customer feedback records (</a:t>
                </a:r>
                <a14:m>
                  <m:oMath xmlns:m="http://schemas.openxmlformats.org/officeDocument/2006/math">
                    <m:r>
                      <a:rPr lang="en-IN">
                        <a:latin typeface="Cambria Math" panose="02040503050406030204" pitchFamily="18" charset="0"/>
                      </a:rPr>
                      <m:t>10,000</m:t>
                    </m:r>
                  </m:oMath>
                </a14:m>
                <a:r>
                  <a:rPr lang="en-IN" dirty="0"/>
                  <a:t> raw reviews) across Gachibowli/</a:t>
                </a:r>
                <a:r>
                  <a:rPr lang="en-IN" dirty="0" err="1"/>
                  <a:t>Hitec</a:t>
                </a:r>
                <a:r>
                  <a:rPr lang="en-IN" dirty="0"/>
                  <a:t> City, Hyderabad.</a:t>
                </a:r>
              </a:p>
              <a:p>
                <a:pPr marL="742950" lvl="1" indent="-285750">
                  <a:buFont typeface="Arial" panose="020B0604020202020204" pitchFamily="34" charset="0"/>
                  <a:buChar char="•"/>
                </a:pPr>
                <a:r>
                  <a:rPr lang="en-IN" b="1" dirty="0"/>
                  <a:t>Processed Volume:</a:t>
                </a:r>
                <a:r>
                  <a:rPr lang="en-IN" dirty="0"/>
                  <a:t> </a:t>
                </a:r>
                <a14:m>
                  <m:oMath xmlns:m="http://schemas.openxmlformats.org/officeDocument/2006/math">
                    <m:r>
                      <a:rPr lang="en-IN">
                        <a:latin typeface="Cambria Math" panose="02040503050406030204" pitchFamily="18" charset="0"/>
                      </a:rPr>
                      <m:t>100</m:t>
                    </m:r>
                  </m:oMath>
                </a14:m>
                <a:r>
                  <a:rPr lang="en-IN" dirty="0"/>
                  <a:t>unique dining establishments and </a:t>
                </a:r>
                <a14:m>
                  <m:oMath xmlns:m="http://schemas.openxmlformats.org/officeDocument/2006/math">
                    <m:r>
                      <a:rPr lang="en-IN">
                        <a:latin typeface="Cambria Math" panose="02040503050406030204" pitchFamily="18" charset="0"/>
                      </a:rPr>
                      <m:t>9,964</m:t>
                    </m:r>
                  </m:oMath>
                </a14:m>
                <a:r>
                  <a:rPr lang="en-IN" dirty="0"/>
                  <a:t>verified customer reviews post-cleaning.</a:t>
                </a:r>
              </a:p>
              <a:p>
                <a:pPr marL="742950" lvl="1" indent="-285750">
                  <a:buFont typeface="Arial" panose="020B0604020202020204" pitchFamily="34" charset="0"/>
                  <a:buChar char="•"/>
                </a:pPr>
                <a:r>
                  <a:rPr lang="en-IN" b="1" dirty="0"/>
                  <a:t>Core Business Objective:</a:t>
                </a:r>
                <a:r>
                  <a:rPr lang="en-IN" dirty="0"/>
                  <a:t> Bridge the gap between quantitative metrics (star ratings, dining costs) and qualitative customer experiences (text reviews).</a:t>
                </a:r>
              </a:p>
              <a:p>
                <a:pPr marL="742950" lvl="1" indent="-285750">
                  <a:buFont typeface="Arial" panose="020B0604020202020204" pitchFamily="34" charset="0"/>
                  <a:buChar char="•"/>
                </a:pPr>
                <a:r>
                  <a:rPr lang="en-IN" b="1" dirty="0"/>
                  <a:t>Analytical Deliverables:</a:t>
                </a:r>
                <a:r>
                  <a:rPr lang="en-IN" dirty="0"/>
                  <a:t> Comprehensive exploratory data analysis (EDA), natural language processing (NLP) sentiment classification, an interactive </a:t>
                </a:r>
                <a:r>
                  <a:rPr lang="en-IN" dirty="0" err="1"/>
                  <a:t>Streamlit</a:t>
                </a:r>
                <a:r>
                  <a:rPr lang="en-IN" dirty="0"/>
                  <a:t> dashboard, and an automated multi-page executive PDF dossier.</a:t>
                </a:r>
              </a:p>
            </p:txBody>
          </p:sp>
        </mc:Choice>
        <mc:Fallback xmlns="">
          <p:sp>
            <p:nvSpPr>
              <p:cNvPr id="6" name="TextBox 5">
                <a:extLst>
                  <a:ext uri="{FF2B5EF4-FFF2-40B4-BE49-F238E27FC236}">
                    <a16:creationId xmlns:a16="http://schemas.microsoft.com/office/drawing/2014/main" id="{40163A97-CD36-12D2-9DDB-DE02CADA9D6E}"/>
                  </a:ext>
                </a:extLst>
              </p:cNvPr>
              <p:cNvSpPr txBox="1">
                <a:spLocks noRot="1" noChangeAspect="1" noMove="1" noResize="1" noEditPoints="1" noAdjustHandles="1" noChangeArrowheads="1" noChangeShapeType="1" noTextEdit="1"/>
              </p:cNvSpPr>
              <p:nvPr/>
            </p:nvSpPr>
            <p:spPr>
              <a:xfrm>
                <a:off x="707922" y="3189083"/>
                <a:ext cx="10933471" cy="2585323"/>
              </a:xfrm>
              <a:prstGeom prst="rect">
                <a:avLst/>
              </a:prstGeom>
              <a:blipFill>
                <a:blip r:embed="rId2"/>
                <a:stretch>
                  <a:fillRect t="-943" r="-502" b="-3066"/>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C8CCF62B-C26F-9E35-7F95-39AD6A6C2CA5}"/>
              </a:ext>
            </a:extLst>
          </p:cNvPr>
          <p:cNvSpPr txBox="1"/>
          <p:nvPr/>
        </p:nvSpPr>
        <p:spPr>
          <a:xfrm>
            <a:off x="781663" y="5964650"/>
            <a:ext cx="10785987" cy="646331"/>
          </a:xfrm>
          <a:prstGeom prst="rect">
            <a:avLst/>
          </a:prstGeom>
          <a:solidFill>
            <a:schemeClr val="accent5">
              <a:lumMod val="20000"/>
              <a:lumOff val="80000"/>
            </a:schemeClr>
          </a:solidFill>
        </p:spPr>
        <p:txBody>
          <a:bodyPr wrap="square" rtlCol="0">
            <a:spAutoFit/>
          </a:bodyPr>
          <a:lstStyle/>
          <a:p>
            <a:r>
              <a:rPr lang="en-IN" sz="1200" dirty="0"/>
              <a:t>"This project provides an end-to-end analytical framework to understand what truly drives dining satisfaction in Hyderabad's prime tech corridor. Rather than looking purely at surface-level 1-to-5 star ratings, we connected tabular cost and cuisine attributes with natural language sentiment to reveal actionable operational levers for restaurateurs."</a:t>
            </a:r>
          </a:p>
        </p:txBody>
      </p:sp>
    </p:spTree>
    <p:extLst>
      <p:ext uri="{BB962C8B-B14F-4D97-AF65-F5344CB8AC3E}">
        <p14:creationId xmlns:p14="http://schemas.microsoft.com/office/powerpoint/2010/main" val="134668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B57349D-D788-8921-FF1A-AFF426BD058C}"/>
                  </a:ext>
                </a:extLst>
              </p:cNvPr>
              <p:cNvSpPr txBox="1"/>
              <p:nvPr/>
            </p:nvSpPr>
            <p:spPr>
              <a:xfrm>
                <a:off x="727587" y="2985585"/>
                <a:ext cx="10736826" cy="2585323"/>
              </a:xfrm>
              <a:prstGeom prst="rect">
                <a:avLst/>
              </a:prstGeom>
              <a:solidFill>
                <a:schemeClr val="accent5">
                  <a:lumMod val="20000"/>
                  <a:lumOff val="80000"/>
                </a:schemeClr>
              </a:solidFill>
            </p:spPr>
            <p:txBody>
              <a:bodyPr wrap="square" rtlCol="0">
                <a:spAutoFit/>
              </a:bodyPr>
              <a:lstStyle/>
              <a:p>
                <a:pPr marL="285750" lvl="0" indent="-285750">
                  <a:buFont typeface="Arial" panose="020B0604020202020204" pitchFamily="34" charset="0"/>
                  <a:buChar char="•"/>
                </a:pPr>
                <a:r>
                  <a:rPr lang="en-IN" b="1" dirty="0"/>
                  <a:t>Deduplication:</a:t>
                </a:r>
                <a:r>
                  <a:rPr lang="en-IN" dirty="0"/>
                  <a:t> Removed </a:t>
                </a:r>
                <a14:m>
                  <m:oMath xmlns:m="http://schemas.openxmlformats.org/officeDocument/2006/math">
                    <m:r>
                      <a:rPr lang="en-IN">
                        <a:latin typeface="Cambria Math" panose="02040503050406030204" pitchFamily="18" charset="0"/>
                      </a:rPr>
                      <m:t>36</m:t>
                    </m:r>
                  </m:oMath>
                </a14:m>
                <a:r>
                  <a:rPr lang="en-IN" dirty="0"/>
                  <a:t>redundant review records to eliminate bias from accidental multi-postings.</a:t>
                </a:r>
              </a:p>
              <a:p>
                <a:pPr marL="285750" lvl="0" indent="-285750">
                  <a:buFont typeface="Arial" panose="020B0604020202020204" pitchFamily="34" charset="0"/>
                  <a:buChar char="•"/>
                </a:pPr>
                <a:r>
                  <a:rPr lang="en-IN" b="1" dirty="0"/>
                  <a:t>Rating Harmonization:</a:t>
                </a:r>
                <a:r>
                  <a:rPr lang="en-IN" dirty="0"/>
                  <a:t> Filtered text anomalies (such as non-numeric values like 'Like') and imputed missing entries using the dataset median (</a:t>
                </a:r>
                <a14:m>
                  <m:oMath xmlns:m="http://schemas.openxmlformats.org/officeDocument/2006/math">
                    <m:r>
                      <a:rPr lang="en-IN">
                        <a:latin typeface="Cambria Math" panose="02040503050406030204" pitchFamily="18" charset="0"/>
                      </a:rPr>
                      <m:t>4.0</m:t>
                    </m:r>
                  </m:oMath>
                </a14:m>
                <a:r>
                  <a:rPr lang="en-IN" dirty="0"/>
                  <a:t>).</a:t>
                </a:r>
              </a:p>
              <a:p>
                <a:pPr marL="285750" lvl="0" indent="-285750">
                  <a:buFont typeface="Arial" panose="020B0604020202020204" pitchFamily="34" charset="0"/>
                  <a:buChar char="•"/>
                </a:pPr>
                <a:r>
                  <a:rPr lang="en-IN" b="1" dirty="0"/>
                  <a:t>Cost Formatting:</a:t>
                </a:r>
                <a:r>
                  <a:rPr lang="en-IN" dirty="0"/>
                  <a:t> Stripped formatting artifacts (currency commas/spaces) to convert "Cost for Two" into a continuous numeric metric (INR 150 to INR 2,800).</a:t>
                </a:r>
              </a:p>
              <a:p>
                <a:pPr marL="285750" lvl="0" indent="-285750">
                  <a:buFont typeface="Arial" panose="020B0604020202020204" pitchFamily="34" charset="0"/>
                  <a:buChar char="•"/>
                </a:pPr>
                <a:r>
                  <a:rPr lang="en-IN" b="1" dirty="0"/>
                  <a:t>Relational Integration:</a:t>
                </a:r>
                <a:r>
                  <a:rPr lang="en-IN" dirty="0"/>
                  <a:t> Performed an inner-join on standardized restaurant naming keys, yielding a unified feature store of </a:t>
                </a:r>
                <a14:m>
                  <m:oMath xmlns:m="http://schemas.openxmlformats.org/officeDocument/2006/math">
                    <m:r>
                      <a:rPr lang="en-IN">
                        <a:latin typeface="Cambria Math" panose="02040503050406030204" pitchFamily="18" charset="0"/>
                      </a:rPr>
                      <m:t>9,964</m:t>
                    </m:r>
                  </m:oMath>
                </a14:m>
                <a:r>
                  <a:rPr lang="en-IN" dirty="0"/>
                  <a:t>rows and </a:t>
                </a:r>
                <a14:m>
                  <m:oMath xmlns:m="http://schemas.openxmlformats.org/officeDocument/2006/math">
                    <m:r>
                      <a:rPr lang="en-IN">
                        <a:latin typeface="Cambria Math" panose="02040503050406030204" pitchFamily="18" charset="0"/>
                      </a:rPr>
                      <m:t>15</m:t>
                    </m:r>
                  </m:oMath>
                </a14:m>
                <a:r>
                  <a:rPr lang="en-IN" dirty="0"/>
                  <a:t>attributes.</a:t>
                </a:r>
              </a:p>
              <a:p>
                <a:pPr marL="285750" lvl="0" indent="-285750">
                  <a:buFont typeface="Arial" panose="020B0604020202020204" pitchFamily="34" charset="0"/>
                  <a:buChar char="•"/>
                </a:pPr>
                <a:r>
                  <a:rPr lang="en-IN" b="1" dirty="0"/>
                  <a:t>Text Normalization:</a:t>
                </a:r>
                <a:r>
                  <a:rPr lang="en-IN" dirty="0"/>
                  <a:t> Stripped URLs, emojis, and special punctuation, normalized case to lowercase, and removed standard English </a:t>
                </a:r>
                <a:r>
                  <a:rPr lang="en-IN" dirty="0" err="1"/>
                  <a:t>stopwords</a:t>
                </a:r>
                <a:r>
                  <a:rPr lang="en-IN" dirty="0"/>
                  <a:t> for NLP readiness.</a:t>
                </a:r>
              </a:p>
            </p:txBody>
          </p:sp>
        </mc:Choice>
        <mc:Fallback xmlns="">
          <p:sp>
            <p:nvSpPr>
              <p:cNvPr id="4" name="TextBox 3">
                <a:extLst>
                  <a:ext uri="{FF2B5EF4-FFF2-40B4-BE49-F238E27FC236}">
                    <a16:creationId xmlns:a16="http://schemas.microsoft.com/office/drawing/2014/main" id="{3B57349D-D788-8921-FF1A-AFF426BD058C}"/>
                  </a:ext>
                </a:extLst>
              </p:cNvPr>
              <p:cNvSpPr txBox="1">
                <a:spLocks noRot="1" noChangeAspect="1" noMove="1" noResize="1" noEditPoints="1" noAdjustHandles="1" noChangeArrowheads="1" noChangeShapeType="1" noTextEdit="1"/>
              </p:cNvSpPr>
              <p:nvPr/>
            </p:nvSpPr>
            <p:spPr>
              <a:xfrm>
                <a:off x="727587" y="2985585"/>
                <a:ext cx="10736826" cy="2585323"/>
              </a:xfrm>
              <a:prstGeom prst="rect">
                <a:avLst/>
              </a:prstGeom>
              <a:blipFill>
                <a:blip r:embed="rId2"/>
                <a:stretch>
                  <a:fillRect l="-341" t="-1179" r="-624" b="-3066"/>
                </a:stretch>
              </a:blipFill>
            </p:spPr>
            <p:txBody>
              <a:bodyPr/>
              <a:lstStyle/>
              <a:p>
                <a:r>
                  <a:rPr lang="en-IN">
                    <a:noFill/>
                  </a:rPr>
                  <a:t> </a:t>
                </a:r>
              </a:p>
            </p:txBody>
          </p:sp>
        </mc:Fallback>
      </mc:AlternateContent>
      <p:sp>
        <p:nvSpPr>
          <p:cNvPr id="5" name="Title 4">
            <a:extLst>
              <a:ext uri="{FF2B5EF4-FFF2-40B4-BE49-F238E27FC236}">
                <a16:creationId xmlns:a16="http://schemas.microsoft.com/office/drawing/2014/main" id="{78A3BBA3-E908-C895-9A66-B529D914DDD6}"/>
              </a:ext>
            </a:extLst>
          </p:cNvPr>
          <p:cNvSpPr>
            <a:spLocks noGrp="1"/>
          </p:cNvSpPr>
          <p:nvPr>
            <p:ph type="ctrTitle"/>
          </p:nvPr>
        </p:nvSpPr>
        <p:spPr>
          <a:xfrm>
            <a:off x="1691148" y="203613"/>
            <a:ext cx="9144000" cy="1674349"/>
          </a:xfrm>
          <a:solidFill>
            <a:schemeClr val="accent5">
              <a:lumMod val="20000"/>
              <a:lumOff val="80000"/>
            </a:schemeClr>
          </a:solidFill>
        </p:spPr>
        <p:txBody>
          <a:bodyPr>
            <a:normAutofit fontScale="90000"/>
          </a:bodyPr>
          <a:lstStyle/>
          <a:p>
            <a:r>
              <a:rPr lang="en-IN" dirty="0"/>
              <a:t>Data Integrity And Preprocessing Pipeline</a:t>
            </a:r>
          </a:p>
        </p:txBody>
      </p:sp>
      <p:sp>
        <p:nvSpPr>
          <p:cNvPr id="6" name="Subtitle 5">
            <a:extLst>
              <a:ext uri="{FF2B5EF4-FFF2-40B4-BE49-F238E27FC236}">
                <a16:creationId xmlns:a16="http://schemas.microsoft.com/office/drawing/2014/main" id="{FA104FE4-B913-3AA5-3C87-0D108A740F71}"/>
              </a:ext>
            </a:extLst>
          </p:cNvPr>
          <p:cNvSpPr>
            <a:spLocks noGrp="1"/>
          </p:cNvSpPr>
          <p:nvPr>
            <p:ph type="subTitle" idx="1"/>
          </p:nvPr>
        </p:nvSpPr>
        <p:spPr>
          <a:xfrm>
            <a:off x="1691148" y="2202431"/>
            <a:ext cx="9144000" cy="458685"/>
          </a:xfrm>
          <a:solidFill>
            <a:schemeClr val="accent5">
              <a:lumMod val="20000"/>
              <a:lumOff val="80000"/>
            </a:schemeClr>
          </a:solidFill>
        </p:spPr>
        <p:txBody>
          <a:bodyPr/>
          <a:lstStyle/>
          <a:p>
            <a:r>
              <a:rPr lang="en-IN" dirty="0"/>
              <a:t>Transforming Noisy Consumer Data into an Analysis-Ready Schema</a:t>
            </a:r>
          </a:p>
        </p:txBody>
      </p:sp>
      <p:sp>
        <p:nvSpPr>
          <p:cNvPr id="7" name="TextBox 6">
            <a:extLst>
              <a:ext uri="{FF2B5EF4-FFF2-40B4-BE49-F238E27FC236}">
                <a16:creationId xmlns:a16="http://schemas.microsoft.com/office/drawing/2014/main" id="{7B8F4987-55B9-55EA-38EB-F46FCCFFD957}"/>
              </a:ext>
            </a:extLst>
          </p:cNvPr>
          <p:cNvSpPr txBox="1"/>
          <p:nvPr/>
        </p:nvSpPr>
        <p:spPr>
          <a:xfrm>
            <a:off x="644013" y="5986696"/>
            <a:ext cx="10903974" cy="461665"/>
          </a:xfrm>
          <a:prstGeom prst="rect">
            <a:avLst/>
          </a:prstGeom>
          <a:solidFill>
            <a:schemeClr val="accent5">
              <a:lumMod val="20000"/>
              <a:lumOff val="80000"/>
            </a:schemeClr>
          </a:solidFill>
        </p:spPr>
        <p:txBody>
          <a:bodyPr wrap="square" rtlCol="0">
            <a:spAutoFit/>
          </a:bodyPr>
          <a:lstStyle/>
          <a:p>
            <a:r>
              <a:rPr lang="en-IN" sz="1200" dirty="0"/>
              <a:t>"Real-world scraping produces inconsistencies. We coerced non-numeric ratings, standardized cost figures into integers, and normalized text by removing punctuation and stop words to ensure clean feature vectors for our downstream statistical and NLP models."</a:t>
            </a:r>
          </a:p>
        </p:txBody>
      </p:sp>
    </p:spTree>
    <p:extLst>
      <p:ext uri="{BB962C8B-B14F-4D97-AF65-F5344CB8AC3E}">
        <p14:creationId xmlns:p14="http://schemas.microsoft.com/office/powerpoint/2010/main" val="2551210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104E471-0B21-8EB0-477F-C786DAF0A809}"/>
                  </a:ext>
                </a:extLst>
              </p:cNvPr>
              <p:cNvSpPr txBox="1"/>
              <p:nvPr/>
            </p:nvSpPr>
            <p:spPr>
              <a:xfrm>
                <a:off x="727587" y="2784590"/>
                <a:ext cx="10736826" cy="2862322"/>
              </a:xfrm>
              <a:prstGeom prst="rect">
                <a:avLst/>
              </a:prstGeom>
              <a:solidFill>
                <a:schemeClr val="accent5">
                  <a:lumMod val="20000"/>
                  <a:lumOff val="80000"/>
                </a:schemeClr>
              </a:solidFill>
            </p:spPr>
            <p:txBody>
              <a:bodyPr wrap="square" rtlCol="0">
                <a:spAutoFit/>
              </a:bodyPr>
              <a:lstStyle/>
              <a:p>
                <a:pPr marL="285750" lvl="0" indent="-285750">
                  <a:buFont typeface="Arial" panose="020B0604020202020204" pitchFamily="34" charset="0"/>
                  <a:buChar char="•"/>
                </a:pPr>
                <a:r>
                  <a:rPr lang="en-IN" b="1" dirty="0"/>
                  <a:t>Polarized Clustering:</a:t>
                </a:r>
                <a:r>
                  <a:rPr lang="en-IN" dirty="0"/>
                  <a:t> Rating distributions show pronounced peaks at the extreme boundaries—</a:t>
                </a:r>
                <a:r>
                  <a:rPr lang="en-IN" b="1" dirty="0"/>
                  <a:t>5.0 Stars</a:t>
                </a:r>
                <a:r>
                  <a:rPr lang="en-IN" dirty="0"/>
                  <a:t> (dominant majority) and </a:t>
                </a:r>
                <a:r>
                  <a:rPr lang="en-IN" b="1" dirty="0"/>
                  <a:t>1.0 Star</a:t>
                </a:r>
                <a:r>
                  <a:rPr lang="en-IN" dirty="0"/>
                  <a:t>.</a:t>
                </a:r>
              </a:p>
              <a:p>
                <a:pPr marL="285750" lvl="0" indent="-285750">
                  <a:buFont typeface="Arial" panose="020B0604020202020204" pitchFamily="34" charset="0"/>
                  <a:buChar char="•"/>
                </a:pPr>
                <a:r>
                  <a:rPr lang="en-IN" b="1" dirty="0"/>
                  <a:t>Middle-Tier Apathy:</a:t>
                </a:r>
                <a:r>
                  <a:rPr lang="en-IN" dirty="0"/>
                  <a:t> Ratings of 2.0, 3.0, and 3.5 account for only a small fraction (</a:t>
                </a:r>
                <a14:m>
                  <m:oMath xmlns:m="http://schemas.openxmlformats.org/officeDocument/2006/math">
                    <m:r>
                      <a:rPr lang="en-IN">
                        <a:latin typeface="Cambria Math" panose="02040503050406030204" pitchFamily="18" charset="0"/>
                      </a:rPr>
                      <m:t>12.4%</m:t>
                    </m:r>
                  </m:oMath>
                </a14:m>
                <a:r>
                  <a:rPr lang="en-IN" dirty="0"/>
                  <a:t> neutral share), showing that average dining experiences rarely motivate diners to publish reviews.</a:t>
                </a:r>
              </a:p>
              <a:p>
                <a:pPr marL="285750" lvl="0" indent="-285750">
                  <a:buFont typeface="Arial" panose="020B0604020202020204" pitchFamily="34" charset="0"/>
                  <a:buChar char="•"/>
                </a:pPr>
                <a:r>
                  <a:rPr lang="en-IN" b="1" dirty="0"/>
                  <a:t>Portfolio Baseline:</a:t>
                </a:r>
                <a:endParaRPr lang="en-IN" dirty="0"/>
              </a:p>
              <a:p>
                <a:pPr marL="742950" lvl="1" indent="-285750">
                  <a:buFont typeface="Arial" panose="020B0604020202020204" pitchFamily="34" charset="0"/>
                  <a:buChar char="•"/>
                </a:pPr>
                <a:r>
                  <a:rPr lang="en-IN" b="1" dirty="0"/>
                  <a:t>Mean Rating:</a:t>
                </a:r>
                <a:r>
                  <a:rPr lang="en-IN" dirty="0"/>
                  <a:t> </a:t>
                </a:r>
                <a14:m>
                  <m:oMath xmlns:m="http://schemas.openxmlformats.org/officeDocument/2006/math">
                    <m:r>
                      <a:rPr lang="en-IN">
                        <a:latin typeface="Cambria Math" panose="02040503050406030204" pitchFamily="18" charset="0"/>
                      </a:rPr>
                      <m:t>3.60/5.0</m:t>
                    </m:r>
                  </m:oMath>
                </a14:m>
                <a:endParaRPr lang="en-IN" dirty="0"/>
              </a:p>
              <a:p>
                <a:pPr marL="742950" lvl="1" indent="-285750">
                  <a:buFont typeface="Arial" panose="020B0604020202020204" pitchFamily="34" charset="0"/>
                  <a:buChar char="•"/>
                </a:pPr>
                <a:r>
                  <a:rPr lang="en-IN" b="1" dirty="0"/>
                  <a:t>Median Rating:</a:t>
                </a:r>
                <a:r>
                  <a:rPr lang="en-IN" dirty="0"/>
                  <a:t> </a:t>
                </a:r>
                <a14:m>
                  <m:oMath xmlns:m="http://schemas.openxmlformats.org/officeDocument/2006/math">
                    <m:r>
                      <a:rPr lang="en-IN">
                        <a:latin typeface="Cambria Math" panose="02040503050406030204" pitchFamily="18" charset="0"/>
                      </a:rPr>
                      <m:t>4.00/5.0</m:t>
                    </m:r>
                  </m:oMath>
                </a14:m>
                <a:endParaRPr lang="en-IN" dirty="0"/>
              </a:p>
              <a:p>
                <a:pPr marL="742950" lvl="1" indent="-285750">
                  <a:buFont typeface="Arial" panose="020B0604020202020204" pitchFamily="34" charset="0"/>
                  <a:buChar char="•"/>
                </a:pPr>
                <a:r>
                  <a:rPr lang="en-IN" b="1" dirty="0"/>
                  <a:t>Standard Deviation:</a:t>
                </a:r>
                <a:r>
                  <a:rPr lang="en-IN" dirty="0"/>
                  <a:t> </a:t>
                </a:r>
                <a14:m>
                  <m:oMath xmlns:m="http://schemas.openxmlformats.org/officeDocument/2006/math">
                    <m:r>
                      <a:rPr lang="en-IN">
                        <a:latin typeface="Cambria Math" panose="02040503050406030204" pitchFamily="18" charset="0"/>
                      </a:rPr>
                      <m:t>1.48</m:t>
                    </m:r>
                  </m:oMath>
                </a14:m>
                <a:endParaRPr lang="en-IN" dirty="0"/>
              </a:p>
              <a:p>
                <a:pPr marL="285750" lvl="0" indent="-285750">
                  <a:buFont typeface="Arial" panose="020B0604020202020204" pitchFamily="34" charset="0"/>
                  <a:buChar char="•"/>
                </a:pPr>
                <a:r>
                  <a:rPr lang="en-IN" b="1" dirty="0"/>
                  <a:t>Analytical Takeaway:</a:t>
                </a:r>
                <a:r>
                  <a:rPr lang="en-IN" dirty="0"/>
                  <a:t> Customer feedback on food platforms is an emotional extreme detector; ratings drops are driven primarily by acute service failures rather than general mediocrity.</a:t>
                </a:r>
              </a:p>
            </p:txBody>
          </p:sp>
        </mc:Choice>
        <mc:Fallback xmlns="">
          <p:sp>
            <p:nvSpPr>
              <p:cNvPr id="2" name="TextBox 1">
                <a:extLst>
                  <a:ext uri="{FF2B5EF4-FFF2-40B4-BE49-F238E27FC236}">
                    <a16:creationId xmlns:a16="http://schemas.microsoft.com/office/drawing/2014/main" id="{9104E471-0B21-8EB0-477F-C786DAF0A809}"/>
                  </a:ext>
                </a:extLst>
              </p:cNvPr>
              <p:cNvSpPr txBox="1">
                <a:spLocks noRot="1" noChangeAspect="1" noMove="1" noResize="1" noEditPoints="1" noAdjustHandles="1" noChangeArrowheads="1" noChangeShapeType="1" noTextEdit="1"/>
              </p:cNvSpPr>
              <p:nvPr/>
            </p:nvSpPr>
            <p:spPr>
              <a:xfrm>
                <a:off x="727587" y="2784590"/>
                <a:ext cx="10736826" cy="2862322"/>
              </a:xfrm>
              <a:prstGeom prst="rect">
                <a:avLst/>
              </a:prstGeom>
              <a:blipFill>
                <a:blip r:embed="rId2"/>
                <a:stretch>
                  <a:fillRect l="-341" t="-1066" b="-2772"/>
                </a:stretch>
              </a:blipFill>
            </p:spPr>
            <p:txBody>
              <a:bodyPr/>
              <a:lstStyle/>
              <a:p>
                <a:r>
                  <a:rPr lang="en-IN">
                    <a:noFill/>
                  </a:rPr>
                  <a:t> </a:t>
                </a:r>
              </a:p>
            </p:txBody>
          </p:sp>
        </mc:Fallback>
      </mc:AlternateContent>
      <p:sp>
        <p:nvSpPr>
          <p:cNvPr id="3" name="Title 4">
            <a:extLst>
              <a:ext uri="{FF2B5EF4-FFF2-40B4-BE49-F238E27FC236}">
                <a16:creationId xmlns:a16="http://schemas.microsoft.com/office/drawing/2014/main" id="{2962AED5-EBD0-DD24-2150-605A6F133D69}"/>
              </a:ext>
            </a:extLst>
          </p:cNvPr>
          <p:cNvSpPr txBox="1">
            <a:spLocks/>
          </p:cNvSpPr>
          <p:nvPr/>
        </p:nvSpPr>
        <p:spPr>
          <a:xfrm>
            <a:off x="1691148" y="203613"/>
            <a:ext cx="9144000" cy="1526864"/>
          </a:xfrm>
          <a:prstGeom prst="rect">
            <a:avLst/>
          </a:prstGeom>
          <a:solidFill>
            <a:schemeClr val="accent5">
              <a:lumMod val="20000"/>
              <a:lumOff val="8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5400" dirty="0"/>
              <a:t>Customer Rating Distribution: The Bimodal Phenomenon</a:t>
            </a:r>
          </a:p>
        </p:txBody>
      </p:sp>
      <p:sp>
        <p:nvSpPr>
          <p:cNvPr id="4" name="Subtitle 5">
            <a:extLst>
              <a:ext uri="{FF2B5EF4-FFF2-40B4-BE49-F238E27FC236}">
                <a16:creationId xmlns:a16="http://schemas.microsoft.com/office/drawing/2014/main" id="{60C78BC6-FAE7-9814-A975-6037A302F558}"/>
              </a:ext>
            </a:extLst>
          </p:cNvPr>
          <p:cNvSpPr txBox="1">
            <a:spLocks/>
          </p:cNvSpPr>
          <p:nvPr/>
        </p:nvSpPr>
        <p:spPr>
          <a:xfrm>
            <a:off x="1833715" y="1986121"/>
            <a:ext cx="8858866" cy="458685"/>
          </a:xfrm>
          <a:prstGeom prst="rect">
            <a:avLst/>
          </a:prstGeom>
          <a:solidFill>
            <a:schemeClr val="accent5">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Extreme Emotional Triggers Drive Public Review </a:t>
            </a:r>
            <a:r>
              <a:rPr lang="en-IN" dirty="0" err="1"/>
              <a:t>Behavior</a:t>
            </a:r>
            <a:endParaRPr lang="en-IN" dirty="0"/>
          </a:p>
        </p:txBody>
      </p:sp>
      <p:sp>
        <p:nvSpPr>
          <p:cNvPr id="5" name="TextBox 4">
            <a:extLst>
              <a:ext uri="{FF2B5EF4-FFF2-40B4-BE49-F238E27FC236}">
                <a16:creationId xmlns:a16="http://schemas.microsoft.com/office/drawing/2014/main" id="{42619DD6-DED2-AA92-277E-33C745129ECC}"/>
              </a:ext>
            </a:extLst>
          </p:cNvPr>
          <p:cNvSpPr txBox="1"/>
          <p:nvPr/>
        </p:nvSpPr>
        <p:spPr>
          <a:xfrm>
            <a:off x="644013" y="5986696"/>
            <a:ext cx="10903974" cy="461665"/>
          </a:xfrm>
          <a:prstGeom prst="rect">
            <a:avLst/>
          </a:prstGeom>
          <a:solidFill>
            <a:schemeClr val="accent5">
              <a:lumMod val="20000"/>
              <a:lumOff val="80000"/>
            </a:schemeClr>
          </a:solidFill>
        </p:spPr>
        <p:txBody>
          <a:bodyPr wrap="square" rtlCol="0">
            <a:spAutoFit/>
          </a:bodyPr>
          <a:lstStyle/>
          <a:p>
            <a:r>
              <a:rPr lang="en-IN" sz="1200" dirty="0"/>
              <a:t>"Notice the sharp U-shaped or bimodal distribution. Customers rarely open Zomato to write a review for a 3-star, average meal. They write when they are delighted (5 stars) or furious (1 star). Because of this polarization, mitigating 1-star service failures is the single fastest way for a restaurant to protect its overall average."</a:t>
            </a:r>
          </a:p>
        </p:txBody>
      </p:sp>
    </p:spTree>
    <p:extLst>
      <p:ext uri="{BB962C8B-B14F-4D97-AF65-F5344CB8AC3E}">
        <p14:creationId xmlns:p14="http://schemas.microsoft.com/office/powerpoint/2010/main" val="15992678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B8C7C29-3166-4FCD-37E6-8F67A90495B5}"/>
                  </a:ext>
                </a:extLst>
              </p:cNvPr>
              <p:cNvSpPr txBox="1"/>
              <p:nvPr/>
            </p:nvSpPr>
            <p:spPr>
              <a:xfrm>
                <a:off x="894735" y="2847085"/>
                <a:ext cx="10736826" cy="2862322"/>
              </a:xfrm>
              <a:prstGeom prst="rect">
                <a:avLst/>
              </a:prstGeom>
              <a:solidFill>
                <a:schemeClr val="accent5">
                  <a:lumMod val="20000"/>
                  <a:lumOff val="80000"/>
                </a:schemeClr>
              </a:solidFill>
            </p:spPr>
            <p:txBody>
              <a:bodyPr wrap="square" rtlCol="0">
                <a:spAutoFit/>
              </a:bodyPr>
              <a:lstStyle/>
              <a:p>
                <a:pPr marL="285750" lvl="0" indent="-285750">
                  <a:buFont typeface="Arial" panose="020B0604020202020204" pitchFamily="34" charset="0"/>
                  <a:buChar char="•"/>
                </a:pPr>
                <a:r>
                  <a:rPr lang="en-IN" b="1" dirty="0"/>
                  <a:t>Cuisine Saturation:</a:t>
                </a:r>
                <a:r>
                  <a:rPr lang="en-IN" dirty="0"/>
                  <a:t> </a:t>
                </a:r>
                <a:r>
                  <a:rPr lang="en-IN" b="1" dirty="0"/>
                  <a:t>North Indian</a:t>
                </a:r>
                <a:r>
                  <a:rPr lang="en-IN" dirty="0"/>
                  <a:t> (</a:t>
                </a:r>
                <a14:m>
                  <m:oMath xmlns:m="http://schemas.openxmlformats.org/officeDocument/2006/math">
                    <m:r>
                      <a:rPr lang="en-IN">
                        <a:latin typeface="Cambria Math" panose="02040503050406030204" pitchFamily="18" charset="0"/>
                      </a:rPr>
                      <m:t>61</m:t>
                    </m:r>
                  </m:oMath>
                </a14:m>
                <a:r>
                  <a:rPr lang="en-IN" dirty="0"/>
                  <a:t> venues) and </a:t>
                </a:r>
                <a:r>
                  <a:rPr lang="en-IN" b="1" dirty="0"/>
                  <a:t>Chinese</a:t>
                </a:r>
                <a:r>
                  <a:rPr lang="en-IN" dirty="0"/>
                  <a:t> (</a:t>
                </a:r>
                <a14:m>
                  <m:oMath xmlns:m="http://schemas.openxmlformats.org/officeDocument/2006/math">
                    <m:r>
                      <a:rPr lang="en-IN">
                        <a:latin typeface="Cambria Math" panose="02040503050406030204" pitchFamily="18" charset="0"/>
                      </a:rPr>
                      <m:t>43</m:t>
                    </m:r>
                  </m:oMath>
                </a14:m>
                <a:r>
                  <a:rPr lang="en-IN" dirty="0"/>
                  <a:t> venues) dominate listing supply, followed by </a:t>
                </a:r>
                <a:r>
                  <a:rPr lang="en-IN" b="1" dirty="0"/>
                  <a:t>Continental</a:t>
                </a:r>
                <a:r>
                  <a:rPr lang="en-IN" dirty="0"/>
                  <a:t> (</a:t>
                </a:r>
                <a14:m>
                  <m:oMath xmlns:m="http://schemas.openxmlformats.org/officeDocument/2006/math">
                    <m:r>
                      <a:rPr lang="en-IN">
                        <a:latin typeface="Cambria Math" panose="02040503050406030204" pitchFamily="18" charset="0"/>
                      </a:rPr>
                      <m:t>21</m:t>
                    </m:r>
                  </m:oMath>
                </a14:m>
                <a:r>
                  <a:rPr lang="en-IN" dirty="0"/>
                  <a:t>) and </a:t>
                </a:r>
                <a:r>
                  <a:rPr lang="en-IN" b="1" dirty="0"/>
                  <a:t>Biryani</a:t>
                </a:r>
                <a:r>
                  <a:rPr lang="en-IN" dirty="0"/>
                  <a:t> (</a:t>
                </a:r>
                <a14:m>
                  <m:oMath xmlns:m="http://schemas.openxmlformats.org/officeDocument/2006/math">
                    <m:r>
                      <a:rPr lang="en-IN">
                        <a:latin typeface="Cambria Math" panose="02040503050406030204" pitchFamily="18" charset="0"/>
                      </a:rPr>
                      <m:t>16</m:t>
                    </m:r>
                  </m:oMath>
                </a14:m>
                <a:r>
                  <a:rPr lang="en-IN" dirty="0"/>
                  <a:t>).</a:t>
                </a:r>
              </a:p>
              <a:p>
                <a:pPr marL="285750" lvl="0" indent="-285750">
                  <a:buFont typeface="Arial" panose="020B0604020202020204" pitchFamily="34" charset="0"/>
                  <a:buChar char="•"/>
                </a:pPr>
                <a:r>
                  <a:rPr lang="en-IN" b="1" dirty="0"/>
                  <a:t>Top 5 Rated Venues (High-Touch / Live Grills):</a:t>
                </a:r>
                <a:endParaRPr lang="en-IN" dirty="0"/>
              </a:p>
              <a:p>
                <a:pPr marL="742950" lvl="1" indent="-285750">
                  <a:buFont typeface="Arial" panose="020B0604020202020204" pitchFamily="34" charset="0"/>
                  <a:buChar char="•"/>
                </a:pPr>
                <a:r>
                  <a:rPr lang="en-IN" b="1" dirty="0"/>
                  <a:t>AB's - Absolute Barbecues:</a:t>
                </a:r>
                <a:r>
                  <a:rPr lang="en-IN" dirty="0"/>
                  <a:t> </a:t>
                </a:r>
                <a14:m>
                  <m:oMath xmlns:m="http://schemas.openxmlformats.org/officeDocument/2006/math">
                    <m:r>
                      <a:rPr lang="en-IN">
                        <a:latin typeface="Cambria Math" panose="02040503050406030204" pitchFamily="18" charset="0"/>
                      </a:rPr>
                      <m:t>4.88</m:t>
                    </m:r>
                  </m:oMath>
                </a14:m>
                <a:r>
                  <a:rPr lang="en-IN" dirty="0" err="1"/>
                  <a:t>Avg</a:t>
                </a:r>
                <a:r>
                  <a:rPr lang="en-IN" dirty="0"/>
                  <a:t> Rating | ₹</a:t>
                </a:r>
                <a14:m>
                  <m:oMath xmlns:m="http://schemas.openxmlformats.org/officeDocument/2006/math">
                    <m:r>
                      <a:rPr lang="en-IN">
                        <a:latin typeface="Cambria Math" panose="02040503050406030204" pitchFamily="18" charset="0"/>
                      </a:rPr>
                      <m:t>1,500</m:t>
                    </m:r>
                  </m:oMath>
                </a14:m>
                <a:r>
                  <a:rPr lang="en-IN" dirty="0"/>
                  <a:t> for two | </a:t>
                </a:r>
                <a14:m>
                  <m:oMath xmlns:m="http://schemas.openxmlformats.org/officeDocument/2006/math">
                    <m:r>
                      <a:rPr lang="en-IN">
                        <a:latin typeface="Cambria Math" panose="02040503050406030204" pitchFamily="18" charset="0"/>
                      </a:rPr>
                      <m:t>97%</m:t>
                    </m:r>
                  </m:oMath>
                </a14:m>
                <a:r>
                  <a:rPr lang="en-IN" dirty="0"/>
                  <a:t>Positive</a:t>
                </a:r>
              </a:p>
              <a:p>
                <a:pPr marL="742950" lvl="1" indent="-285750">
                  <a:buFont typeface="Arial" panose="020B0604020202020204" pitchFamily="34" charset="0"/>
                  <a:buChar char="•"/>
                </a:pPr>
                <a:r>
                  <a:rPr lang="en-IN" b="1" dirty="0"/>
                  <a:t>B-Dubs:</a:t>
                </a:r>
                <a:r>
                  <a:rPr lang="en-IN" dirty="0"/>
                  <a:t> </a:t>
                </a:r>
                <a14:m>
                  <m:oMath xmlns:m="http://schemas.openxmlformats.org/officeDocument/2006/math">
                    <m:r>
                      <a:rPr lang="en-IN">
                        <a:latin typeface="Cambria Math" panose="02040503050406030204" pitchFamily="18" charset="0"/>
                      </a:rPr>
                      <m:t>4.81</m:t>
                    </m:r>
                  </m:oMath>
                </a14:m>
                <a:r>
                  <a:rPr lang="en-IN" dirty="0" err="1"/>
                  <a:t>Avg</a:t>
                </a:r>
                <a:r>
                  <a:rPr lang="en-IN" dirty="0"/>
                  <a:t> Rating | ₹</a:t>
                </a:r>
                <a14:m>
                  <m:oMath xmlns:m="http://schemas.openxmlformats.org/officeDocument/2006/math">
                    <m:r>
                      <a:rPr lang="en-IN">
                        <a:latin typeface="Cambria Math" panose="02040503050406030204" pitchFamily="18" charset="0"/>
                      </a:rPr>
                      <m:t>1,600</m:t>
                    </m:r>
                  </m:oMath>
                </a14:m>
                <a:r>
                  <a:rPr lang="en-IN" dirty="0"/>
                  <a:t> for two | </a:t>
                </a:r>
                <a14:m>
                  <m:oMath xmlns:m="http://schemas.openxmlformats.org/officeDocument/2006/math">
                    <m:r>
                      <a:rPr lang="en-IN">
                        <a:latin typeface="Cambria Math" panose="02040503050406030204" pitchFamily="18" charset="0"/>
                      </a:rPr>
                      <m:t>96%</m:t>
                    </m:r>
                  </m:oMath>
                </a14:m>
                <a:r>
                  <a:rPr lang="en-IN" dirty="0"/>
                  <a:t>Positive</a:t>
                </a:r>
              </a:p>
              <a:p>
                <a:pPr marL="742950" lvl="1" indent="-285750">
                  <a:buFont typeface="Arial" panose="020B0604020202020204" pitchFamily="34" charset="0"/>
                  <a:buChar char="•"/>
                </a:pPr>
                <a:r>
                  <a:rPr lang="en-IN" b="1" dirty="0"/>
                  <a:t>3B's - Buddies, Bar &amp; Barbecue:</a:t>
                </a:r>
                <a:r>
                  <a:rPr lang="en-IN" dirty="0"/>
                  <a:t> </a:t>
                </a:r>
                <a14:m>
                  <m:oMath xmlns:m="http://schemas.openxmlformats.org/officeDocument/2006/math">
                    <m:r>
                      <a:rPr lang="en-IN">
                        <a:latin typeface="Cambria Math" panose="02040503050406030204" pitchFamily="18" charset="0"/>
                      </a:rPr>
                      <m:t>4.76</m:t>
                    </m:r>
                  </m:oMath>
                </a14:m>
                <a:r>
                  <a:rPr lang="en-IN" dirty="0" err="1"/>
                  <a:t>Avg</a:t>
                </a:r>
                <a:r>
                  <a:rPr lang="en-IN" dirty="0"/>
                  <a:t> Rating | ₹</a:t>
                </a:r>
                <a14:m>
                  <m:oMath xmlns:m="http://schemas.openxmlformats.org/officeDocument/2006/math">
                    <m:r>
                      <a:rPr lang="en-IN">
                        <a:latin typeface="Cambria Math" panose="02040503050406030204" pitchFamily="18" charset="0"/>
                      </a:rPr>
                      <m:t>1,100</m:t>
                    </m:r>
                  </m:oMath>
                </a14:m>
                <a:r>
                  <a:rPr lang="en-IN" dirty="0"/>
                  <a:t> for two | </a:t>
                </a:r>
                <a14:m>
                  <m:oMath xmlns:m="http://schemas.openxmlformats.org/officeDocument/2006/math">
                    <m:r>
                      <a:rPr lang="en-IN">
                        <a:latin typeface="Cambria Math" panose="02040503050406030204" pitchFamily="18" charset="0"/>
                      </a:rPr>
                      <m:t>93%</m:t>
                    </m:r>
                  </m:oMath>
                </a14:m>
                <a:r>
                  <a:rPr lang="en-IN" dirty="0"/>
                  <a:t>Positive</a:t>
                </a:r>
              </a:p>
              <a:p>
                <a:pPr marL="742950" lvl="1" indent="-285750">
                  <a:buFont typeface="Arial" panose="020B0604020202020204" pitchFamily="34" charset="0"/>
                  <a:buChar char="•"/>
                </a:pPr>
                <a:r>
                  <a:rPr lang="en-IN" b="1" dirty="0"/>
                  <a:t>Paradise:</a:t>
                </a:r>
                <a:r>
                  <a:rPr lang="en-IN" dirty="0"/>
                  <a:t> </a:t>
                </a:r>
                <a14:m>
                  <m:oMath xmlns:m="http://schemas.openxmlformats.org/officeDocument/2006/math">
                    <m:r>
                      <a:rPr lang="en-IN">
                        <a:latin typeface="Cambria Math" panose="02040503050406030204" pitchFamily="18" charset="0"/>
                      </a:rPr>
                      <m:t>4.70</m:t>
                    </m:r>
                  </m:oMath>
                </a14:m>
                <a:r>
                  <a:rPr lang="en-IN" dirty="0" err="1"/>
                  <a:t>Avg</a:t>
                </a:r>
                <a:r>
                  <a:rPr lang="en-IN" dirty="0"/>
                  <a:t> Rating | ₹</a:t>
                </a:r>
                <a14:m>
                  <m:oMath xmlns:m="http://schemas.openxmlformats.org/officeDocument/2006/math">
                    <m:r>
                      <a:rPr lang="en-IN">
                        <a:latin typeface="Cambria Math" panose="02040503050406030204" pitchFamily="18" charset="0"/>
                      </a:rPr>
                      <m:t>800</m:t>
                    </m:r>
                  </m:oMath>
                </a14:m>
                <a:r>
                  <a:rPr lang="en-IN" dirty="0"/>
                  <a:t> for two | </a:t>
                </a:r>
                <a14:m>
                  <m:oMath xmlns:m="http://schemas.openxmlformats.org/officeDocument/2006/math">
                    <m:r>
                      <a:rPr lang="en-IN">
                        <a:latin typeface="Cambria Math" panose="02040503050406030204" pitchFamily="18" charset="0"/>
                      </a:rPr>
                      <m:t>96%</m:t>
                    </m:r>
                  </m:oMath>
                </a14:m>
                <a:r>
                  <a:rPr lang="en-IN" dirty="0"/>
                  <a:t>Positive</a:t>
                </a:r>
              </a:p>
              <a:p>
                <a:pPr marL="742950" lvl="1" indent="-285750">
                  <a:buFont typeface="Arial" panose="020B0604020202020204" pitchFamily="34" charset="0"/>
                  <a:buChar char="•"/>
                </a:pPr>
                <a:r>
                  <a:rPr lang="en-IN" b="1" dirty="0" err="1"/>
                  <a:t>Flechazo</a:t>
                </a:r>
                <a:r>
                  <a:rPr lang="en-IN" b="1" dirty="0"/>
                  <a:t>:</a:t>
                </a:r>
                <a:r>
                  <a:rPr lang="en-IN" dirty="0"/>
                  <a:t> </a:t>
                </a:r>
                <a14:m>
                  <m:oMath xmlns:m="http://schemas.openxmlformats.org/officeDocument/2006/math">
                    <m:r>
                      <a:rPr lang="en-IN">
                        <a:latin typeface="Cambria Math" panose="02040503050406030204" pitchFamily="18" charset="0"/>
                      </a:rPr>
                      <m:t>4.66</m:t>
                    </m:r>
                  </m:oMath>
                </a14:m>
                <a:r>
                  <a:rPr lang="en-IN" dirty="0" err="1"/>
                  <a:t>Avg</a:t>
                </a:r>
                <a:r>
                  <a:rPr lang="en-IN" dirty="0"/>
                  <a:t> Rating | ₹</a:t>
                </a:r>
                <a14:m>
                  <m:oMath xmlns:m="http://schemas.openxmlformats.org/officeDocument/2006/math">
                    <m:r>
                      <a:rPr lang="en-IN">
                        <a:latin typeface="Cambria Math" panose="02040503050406030204" pitchFamily="18" charset="0"/>
                      </a:rPr>
                      <m:t>1,300</m:t>
                    </m:r>
                  </m:oMath>
                </a14:m>
                <a:r>
                  <a:rPr lang="en-IN" dirty="0"/>
                  <a:t> for two | </a:t>
                </a:r>
                <a14:m>
                  <m:oMath xmlns:m="http://schemas.openxmlformats.org/officeDocument/2006/math">
                    <m:r>
                      <a:rPr lang="en-IN">
                        <a:latin typeface="Cambria Math" panose="02040503050406030204" pitchFamily="18" charset="0"/>
                      </a:rPr>
                      <m:t>91%</m:t>
                    </m:r>
                  </m:oMath>
                </a14:m>
                <a:r>
                  <a:rPr lang="en-IN" dirty="0"/>
                  <a:t>Positive</a:t>
                </a:r>
              </a:p>
              <a:p>
                <a:pPr marL="285750" lvl="0" indent="-285750">
                  <a:buFont typeface="Arial" panose="020B0604020202020204" pitchFamily="34" charset="0"/>
                  <a:buChar char="•"/>
                </a:pPr>
                <a:r>
                  <a:rPr lang="en-IN" b="1" dirty="0"/>
                  <a:t>Bottom Performers:</a:t>
                </a:r>
                <a:r>
                  <a:rPr lang="en-IN" dirty="0"/>
                  <a:t> Budget, counter-service delivery models struggle with consistency (e.g., Hotel Zara Hi-Fi: </a:t>
                </a:r>
                <a14:m>
                  <m:oMath xmlns:m="http://schemas.openxmlformats.org/officeDocument/2006/math">
                    <m:r>
                      <a:rPr lang="en-IN">
                        <a:latin typeface="Cambria Math" panose="02040503050406030204" pitchFamily="18" charset="0"/>
                      </a:rPr>
                      <m:t>2.40</m:t>
                    </m:r>
                  </m:oMath>
                </a14:m>
                <a:r>
                  <a:rPr lang="en-IN" dirty="0"/>
                  <a:t>; Asian Meal Box: </a:t>
                </a:r>
                <a14:m>
                  <m:oMath xmlns:m="http://schemas.openxmlformats.org/officeDocument/2006/math">
                    <m:r>
                      <a:rPr lang="en-IN">
                        <a:latin typeface="Cambria Math" panose="02040503050406030204" pitchFamily="18" charset="0"/>
                      </a:rPr>
                      <m:t>2.58</m:t>
                    </m:r>
                  </m:oMath>
                </a14:m>
                <a:r>
                  <a:rPr lang="en-IN" dirty="0"/>
                  <a:t>).</a:t>
                </a:r>
              </a:p>
            </p:txBody>
          </p:sp>
        </mc:Choice>
        <mc:Fallback xmlns="">
          <p:sp>
            <p:nvSpPr>
              <p:cNvPr id="2" name="TextBox 1">
                <a:extLst>
                  <a:ext uri="{FF2B5EF4-FFF2-40B4-BE49-F238E27FC236}">
                    <a16:creationId xmlns:a16="http://schemas.microsoft.com/office/drawing/2014/main" id="{6B8C7C29-3166-4FCD-37E6-8F67A90495B5}"/>
                  </a:ext>
                </a:extLst>
              </p:cNvPr>
              <p:cNvSpPr txBox="1">
                <a:spLocks noRot="1" noChangeAspect="1" noMove="1" noResize="1" noEditPoints="1" noAdjustHandles="1" noChangeArrowheads="1" noChangeShapeType="1" noTextEdit="1"/>
              </p:cNvSpPr>
              <p:nvPr/>
            </p:nvSpPr>
            <p:spPr>
              <a:xfrm>
                <a:off x="894735" y="2847085"/>
                <a:ext cx="10736826" cy="2862322"/>
              </a:xfrm>
              <a:prstGeom prst="rect">
                <a:avLst/>
              </a:prstGeom>
              <a:blipFill>
                <a:blip r:embed="rId2"/>
                <a:stretch>
                  <a:fillRect l="-398" t="-851" r="-57" b="-2553"/>
                </a:stretch>
              </a:blipFill>
            </p:spPr>
            <p:txBody>
              <a:bodyPr/>
              <a:lstStyle/>
              <a:p>
                <a:r>
                  <a:rPr lang="en-IN">
                    <a:noFill/>
                  </a:rPr>
                  <a:t> </a:t>
                </a:r>
              </a:p>
            </p:txBody>
          </p:sp>
        </mc:Fallback>
      </mc:AlternateContent>
      <p:sp>
        <p:nvSpPr>
          <p:cNvPr id="3" name="Title 4">
            <a:extLst>
              <a:ext uri="{FF2B5EF4-FFF2-40B4-BE49-F238E27FC236}">
                <a16:creationId xmlns:a16="http://schemas.microsoft.com/office/drawing/2014/main" id="{41EC7AAF-74F7-6881-F4E9-6C709215B612}"/>
              </a:ext>
            </a:extLst>
          </p:cNvPr>
          <p:cNvSpPr txBox="1">
            <a:spLocks/>
          </p:cNvSpPr>
          <p:nvPr/>
        </p:nvSpPr>
        <p:spPr>
          <a:xfrm>
            <a:off x="1691148" y="203613"/>
            <a:ext cx="9144000" cy="1458039"/>
          </a:xfrm>
          <a:prstGeom prst="rect">
            <a:avLst/>
          </a:prstGeom>
          <a:solidFill>
            <a:schemeClr val="accent5">
              <a:lumMod val="20000"/>
              <a:lumOff val="8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5400" dirty="0"/>
              <a:t>Market Structure And Establishment Performance</a:t>
            </a:r>
          </a:p>
        </p:txBody>
      </p:sp>
      <p:sp>
        <p:nvSpPr>
          <p:cNvPr id="4" name="Subtitle 5">
            <a:extLst>
              <a:ext uri="{FF2B5EF4-FFF2-40B4-BE49-F238E27FC236}">
                <a16:creationId xmlns:a16="http://schemas.microsoft.com/office/drawing/2014/main" id="{1D7A9934-9FED-5476-4D6A-35D8D40F7E93}"/>
              </a:ext>
            </a:extLst>
          </p:cNvPr>
          <p:cNvSpPr txBox="1">
            <a:spLocks/>
          </p:cNvSpPr>
          <p:nvPr/>
        </p:nvSpPr>
        <p:spPr>
          <a:xfrm>
            <a:off x="811161" y="1800057"/>
            <a:ext cx="10903974" cy="769740"/>
          </a:xfrm>
          <a:prstGeom prst="rect">
            <a:avLst/>
          </a:prstGeom>
          <a:solidFill>
            <a:schemeClr val="accent5">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IN" dirty="0"/>
              <a:t>Live-Grills and Experiential Dining Outperform Mass-Market Cuisines Schema</a:t>
            </a:r>
          </a:p>
        </p:txBody>
      </p:sp>
      <p:sp>
        <p:nvSpPr>
          <p:cNvPr id="5" name="TextBox 4">
            <a:extLst>
              <a:ext uri="{FF2B5EF4-FFF2-40B4-BE49-F238E27FC236}">
                <a16:creationId xmlns:a16="http://schemas.microsoft.com/office/drawing/2014/main" id="{995FB4D8-8109-7EBC-D488-30F990ED7D18}"/>
              </a:ext>
            </a:extLst>
          </p:cNvPr>
          <p:cNvSpPr txBox="1"/>
          <p:nvPr/>
        </p:nvSpPr>
        <p:spPr>
          <a:xfrm>
            <a:off x="644013" y="5986696"/>
            <a:ext cx="10903974" cy="461665"/>
          </a:xfrm>
          <a:prstGeom prst="rect">
            <a:avLst/>
          </a:prstGeom>
          <a:solidFill>
            <a:schemeClr val="accent5">
              <a:lumMod val="20000"/>
              <a:lumOff val="80000"/>
            </a:schemeClr>
          </a:solidFill>
        </p:spPr>
        <p:txBody>
          <a:bodyPr wrap="square" rtlCol="0">
            <a:spAutoFit/>
          </a:bodyPr>
          <a:lstStyle/>
          <a:p>
            <a:r>
              <a:rPr lang="en-IN" sz="1200" dirty="0"/>
              <a:t>"While North Indian and Chinese are the most competitive categories by volume, experiential buffet and live-grill concepts hold the highest customer ratings and sentiment scores above 90%. Conversely, low-price delivery kitchens suffer from inconsistent food temperatures and order mix-ups."</a:t>
            </a:r>
          </a:p>
        </p:txBody>
      </p:sp>
    </p:spTree>
    <p:extLst>
      <p:ext uri="{BB962C8B-B14F-4D97-AF65-F5344CB8AC3E}">
        <p14:creationId xmlns:p14="http://schemas.microsoft.com/office/powerpoint/2010/main" val="1976412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9C33047-AA54-FCC4-0C94-AE658C3ACE74}"/>
                  </a:ext>
                </a:extLst>
              </p:cNvPr>
              <p:cNvSpPr txBox="1"/>
              <p:nvPr/>
            </p:nvSpPr>
            <p:spPr>
              <a:xfrm>
                <a:off x="727587" y="2985585"/>
                <a:ext cx="10736826" cy="2585323"/>
              </a:xfrm>
              <a:prstGeom prst="rect">
                <a:avLst/>
              </a:prstGeom>
              <a:solidFill>
                <a:schemeClr val="accent5">
                  <a:lumMod val="20000"/>
                  <a:lumOff val="80000"/>
                </a:schemeClr>
              </a:solidFill>
            </p:spPr>
            <p:txBody>
              <a:bodyPr wrap="square" rtlCol="0">
                <a:spAutoFit/>
              </a:bodyPr>
              <a:lstStyle/>
              <a:p>
                <a:pPr marL="285750" lvl="0" indent="-285750">
                  <a:buFont typeface="Arial" panose="020B0604020202020204" pitchFamily="34" charset="0"/>
                  <a:buChar char="•"/>
                </a:pPr>
                <a:r>
                  <a:rPr lang="en-IN" b="1" dirty="0"/>
                  <a:t>Correlation Coefficient:</a:t>
                </a:r>
                <a:r>
                  <a:rPr lang="en-IN" dirty="0"/>
                  <a:t> Moderate positive correlation (</a:t>
                </a:r>
                <a14:m>
                  <m:oMath xmlns:m="http://schemas.openxmlformats.org/officeDocument/2006/math">
                    <m:r>
                      <a:rPr lang="en-IN" i="1">
                        <a:latin typeface="Cambria Math" panose="02040503050406030204" pitchFamily="18" charset="0"/>
                      </a:rPr>
                      <m:t>𝑟</m:t>
                    </m:r>
                    <m:r>
                      <a:rPr lang="en-IN">
                        <a:latin typeface="Cambria Math" panose="02040503050406030204" pitchFamily="18" charset="0"/>
                      </a:rPr>
                      <m:t>≈0.42</m:t>
                    </m:r>
                  </m:oMath>
                </a14:m>
                <a:r>
                  <a:rPr lang="en-IN" dirty="0"/>
                  <a:t>) between </a:t>
                </a:r>
                <a:r>
                  <a:rPr lang="en-IN" b="1" dirty="0"/>
                  <a:t>Cost for Two</a:t>
                </a:r>
                <a:r>
                  <a:rPr lang="en-IN" dirty="0"/>
                  <a:t> and </a:t>
                </a:r>
                <a:r>
                  <a:rPr lang="en-IN" b="1" dirty="0"/>
                  <a:t>Average Rating</a:t>
                </a:r>
                <a:r>
                  <a:rPr lang="en-IN" dirty="0"/>
                  <a:t>.</a:t>
                </a:r>
              </a:p>
              <a:p>
                <a:pPr marL="285750" lvl="0" indent="-285750">
                  <a:buFont typeface="Arial" panose="020B0604020202020204" pitchFamily="34" charset="0"/>
                  <a:buChar char="•"/>
                </a:pPr>
                <a:r>
                  <a:rPr lang="en-IN" b="1" dirty="0"/>
                  <a:t>The Premium Buffer (₹1,100 – ₹1,800):</a:t>
                </a:r>
                <a:r>
                  <a:rPr lang="en-IN" dirty="0"/>
                  <a:t> Higher average spending correlates with dedicated floor management, better table turn times, and superior ambient conditions, driving ratings consistently above </a:t>
                </a:r>
                <a14:m>
                  <m:oMath xmlns:m="http://schemas.openxmlformats.org/officeDocument/2006/math">
                    <m:r>
                      <a:rPr lang="en-IN">
                        <a:latin typeface="Cambria Math" panose="02040503050406030204" pitchFamily="18" charset="0"/>
                      </a:rPr>
                      <m:t>4.2</m:t>
                    </m:r>
                  </m:oMath>
                </a14:m>
                <a:r>
                  <a:rPr lang="en-IN" dirty="0"/>
                  <a:t>.</a:t>
                </a:r>
              </a:p>
              <a:p>
                <a:pPr marL="285750" lvl="0" indent="-285750">
                  <a:buFont typeface="Arial" panose="020B0604020202020204" pitchFamily="34" charset="0"/>
                  <a:buChar char="•"/>
                </a:pPr>
                <a:r>
                  <a:rPr lang="en-IN" b="1" dirty="0"/>
                  <a:t>The Budget Vulnerability (&lt; ₹500):</a:t>
                </a:r>
                <a:r>
                  <a:rPr lang="en-IN" dirty="0"/>
                  <a:t> Lower cost venues exhibit high rating volatility; packaging mishaps, small portion complaints, and delivery delays directly trigger 1-star reviews.</a:t>
                </a:r>
              </a:p>
              <a:p>
                <a:pPr marL="285750" lvl="0" indent="-285750">
                  <a:buFont typeface="Arial" panose="020B0604020202020204" pitchFamily="34" charset="0"/>
                  <a:buChar char="•"/>
                </a:pPr>
                <a:r>
                  <a:rPr lang="en-IN" b="1" dirty="0"/>
                  <a:t>Review Volume Independence (</a:t>
                </a:r>
                <a14:m>
                  <m:oMath xmlns:m="http://schemas.openxmlformats.org/officeDocument/2006/math">
                    <m:r>
                      <a:rPr lang="en-IN" i="1">
                        <a:latin typeface="Cambria Math" panose="02040503050406030204" pitchFamily="18" charset="0"/>
                      </a:rPr>
                      <m:t>𝑟</m:t>
                    </m:r>
                    <m:r>
                      <a:rPr lang="en-IN">
                        <a:latin typeface="Cambria Math" panose="02040503050406030204" pitchFamily="18" charset="0"/>
                      </a:rPr>
                      <m:t>=−0.016</m:t>
                    </m:r>
                  </m:oMath>
                </a14:m>
                <a:r>
                  <a:rPr lang="en-IN" b="1" dirty="0"/>
                  <a:t>):</a:t>
                </a:r>
                <a:r>
                  <a:rPr lang="en-IN" dirty="0"/>
                  <a:t> A restaurant's popularity or number of reviews does not guarantee customer satisfaction.</a:t>
                </a:r>
              </a:p>
            </p:txBody>
          </p:sp>
        </mc:Choice>
        <mc:Fallback xmlns="">
          <p:sp>
            <p:nvSpPr>
              <p:cNvPr id="2" name="TextBox 1">
                <a:extLst>
                  <a:ext uri="{FF2B5EF4-FFF2-40B4-BE49-F238E27FC236}">
                    <a16:creationId xmlns:a16="http://schemas.microsoft.com/office/drawing/2014/main" id="{F9C33047-AA54-FCC4-0C94-AE658C3ACE74}"/>
                  </a:ext>
                </a:extLst>
              </p:cNvPr>
              <p:cNvSpPr txBox="1">
                <a:spLocks noRot="1" noChangeAspect="1" noMove="1" noResize="1" noEditPoints="1" noAdjustHandles="1" noChangeArrowheads="1" noChangeShapeType="1" noTextEdit="1"/>
              </p:cNvSpPr>
              <p:nvPr/>
            </p:nvSpPr>
            <p:spPr>
              <a:xfrm>
                <a:off x="727587" y="2985585"/>
                <a:ext cx="10736826" cy="2585323"/>
              </a:xfrm>
              <a:prstGeom prst="rect">
                <a:avLst/>
              </a:prstGeom>
              <a:blipFill>
                <a:blip r:embed="rId2"/>
                <a:stretch>
                  <a:fillRect l="-341" t="-1179" b="-306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 name="Title 4">
                <a:extLst>
                  <a:ext uri="{FF2B5EF4-FFF2-40B4-BE49-F238E27FC236}">
                    <a16:creationId xmlns:a16="http://schemas.microsoft.com/office/drawing/2014/main" id="{2EDEAD97-8B59-851F-E6E2-E81C8C8C4A9A}"/>
                  </a:ext>
                </a:extLst>
              </p:cNvPr>
              <p:cNvSpPr txBox="1">
                <a:spLocks/>
              </p:cNvSpPr>
              <p:nvPr/>
            </p:nvSpPr>
            <p:spPr>
              <a:xfrm>
                <a:off x="235974" y="569495"/>
                <a:ext cx="11720052" cy="818941"/>
              </a:xfrm>
              <a:prstGeom prst="rect">
                <a:avLst/>
              </a:prstGeom>
              <a:solidFill>
                <a:schemeClr val="accent5">
                  <a:lumMod val="20000"/>
                  <a:lumOff val="8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5400" dirty="0"/>
                  <a:t>Price-to-Satisfaction Dynamics: </a:t>
                </a:r>
                <a14:m>
                  <m:oMath xmlns:m="http://schemas.openxmlformats.org/officeDocument/2006/math">
                    <m:r>
                      <a:rPr lang="en-IN" sz="5400" i="1">
                        <a:latin typeface="Cambria Math" panose="02040503050406030204" pitchFamily="18" charset="0"/>
                      </a:rPr>
                      <m:t>𝑟</m:t>
                    </m:r>
                    <m:r>
                      <a:rPr lang="en-IN" sz="5400">
                        <a:latin typeface="Cambria Math" panose="02040503050406030204" pitchFamily="18" charset="0"/>
                      </a:rPr>
                      <m:t>=0.42</m:t>
                    </m:r>
                  </m:oMath>
                </a14:m>
                <a:endParaRPr lang="en-IN" sz="5400" dirty="0"/>
              </a:p>
            </p:txBody>
          </p:sp>
        </mc:Choice>
        <mc:Fallback xmlns="">
          <p:sp>
            <p:nvSpPr>
              <p:cNvPr id="3" name="Title 4">
                <a:extLst>
                  <a:ext uri="{FF2B5EF4-FFF2-40B4-BE49-F238E27FC236}">
                    <a16:creationId xmlns:a16="http://schemas.microsoft.com/office/drawing/2014/main" id="{2EDEAD97-8B59-851F-E6E2-E81C8C8C4A9A}"/>
                  </a:ext>
                </a:extLst>
              </p:cNvPr>
              <p:cNvSpPr txBox="1">
                <a:spLocks noRot="1" noChangeAspect="1" noMove="1" noResize="1" noEditPoints="1" noAdjustHandles="1" noChangeArrowheads="1" noChangeShapeType="1" noTextEdit="1"/>
              </p:cNvSpPr>
              <p:nvPr/>
            </p:nvSpPr>
            <p:spPr>
              <a:xfrm>
                <a:off x="235974" y="569495"/>
                <a:ext cx="11720052" cy="818941"/>
              </a:xfrm>
              <a:prstGeom prst="rect">
                <a:avLst/>
              </a:prstGeom>
              <a:blipFill>
                <a:blip r:embed="rId3"/>
                <a:stretch>
                  <a:fillRect l="-2445" t="-29630" b="-47407"/>
                </a:stretch>
              </a:blipFill>
            </p:spPr>
            <p:txBody>
              <a:bodyPr/>
              <a:lstStyle/>
              <a:p>
                <a:r>
                  <a:rPr lang="en-IN">
                    <a:noFill/>
                  </a:rPr>
                  <a:t> </a:t>
                </a:r>
              </a:p>
            </p:txBody>
          </p:sp>
        </mc:Fallback>
      </mc:AlternateContent>
      <p:sp>
        <p:nvSpPr>
          <p:cNvPr id="4" name="Subtitle 5">
            <a:extLst>
              <a:ext uri="{FF2B5EF4-FFF2-40B4-BE49-F238E27FC236}">
                <a16:creationId xmlns:a16="http://schemas.microsoft.com/office/drawing/2014/main" id="{16E1D599-D660-3C7A-33F5-1558D3BA055C}"/>
              </a:ext>
            </a:extLst>
          </p:cNvPr>
          <p:cNvSpPr txBox="1">
            <a:spLocks/>
          </p:cNvSpPr>
          <p:nvPr/>
        </p:nvSpPr>
        <p:spPr>
          <a:xfrm>
            <a:off x="1524000" y="1804224"/>
            <a:ext cx="9144000" cy="458685"/>
          </a:xfrm>
          <a:prstGeom prst="rect">
            <a:avLst/>
          </a:prstGeom>
          <a:solidFill>
            <a:schemeClr val="accent5">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Higher Price Points Function as a Buffer for Service Quality</a:t>
            </a:r>
          </a:p>
        </p:txBody>
      </p:sp>
      <p:sp>
        <p:nvSpPr>
          <p:cNvPr id="5" name="TextBox 4">
            <a:extLst>
              <a:ext uri="{FF2B5EF4-FFF2-40B4-BE49-F238E27FC236}">
                <a16:creationId xmlns:a16="http://schemas.microsoft.com/office/drawing/2014/main" id="{8BEE4E17-0285-AE83-C8B3-F9BCFCB87838}"/>
              </a:ext>
            </a:extLst>
          </p:cNvPr>
          <p:cNvSpPr txBox="1"/>
          <p:nvPr/>
        </p:nvSpPr>
        <p:spPr>
          <a:xfrm>
            <a:off x="644013" y="5986696"/>
            <a:ext cx="10903974" cy="461665"/>
          </a:xfrm>
          <a:prstGeom prst="rect">
            <a:avLst/>
          </a:prstGeom>
          <a:solidFill>
            <a:schemeClr val="accent5">
              <a:lumMod val="20000"/>
              <a:lumOff val="80000"/>
            </a:schemeClr>
          </a:solidFill>
        </p:spPr>
        <p:txBody>
          <a:bodyPr wrap="square" rtlCol="0">
            <a:spAutoFit/>
          </a:bodyPr>
          <a:lstStyle/>
          <a:p>
            <a:r>
              <a:rPr lang="en-IN" sz="1200" dirty="0"/>
              <a:t>"Our regression analysis reveals a positive correlation of 0.42. Higher prices allow restaurants to invest in staff training, hygiene, and ambience, which insulates them from bad reviews. However, charging mid-to-high prices without matching service levels creates the fastest path to customer dissatisfaction."</a:t>
            </a:r>
          </a:p>
        </p:txBody>
      </p:sp>
    </p:spTree>
    <p:extLst>
      <p:ext uri="{BB962C8B-B14F-4D97-AF65-F5344CB8AC3E}">
        <p14:creationId xmlns:p14="http://schemas.microsoft.com/office/powerpoint/2010/main" val="460486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E5441FB-0332-8113-5FC8-35A40DBFB3AA}"/>
                  </a:ext>
                </a:extLst>
              </p:cNvPr>
              <p:cNvSpPr txBox="1"/>
              <p:nvPr/>
            </p:nvSpPr>
            <p:spPr>
              <a:xfrm>
                <a:off x="727587" y="2708586"/>
                <a:ext cx="10736826" cy="3139321"/>
              </a:xfrm>
              <a:prstGeom prst="rect">
                <a:avLst/>
              </a:prstGeom>
              <a:solidFill>
                <a:schemeClr val="accent5">
                  <a:lumMod val="20000"/>
                  <a:lumOff val="80000"/>
                </a:schemeClr>
              </a:solidFill>
            </p:spPr>
            <p:txBody>
              <a:bodyPr wrap="square" rtlCol="0">
                <a:spAutoFit/>
              </a:bodyPr>
              <a:lstStyle/>
              <a:p>
                <a:pPr marL="285750" lvl="0" indent="-285750">
                  <a:buFont typeface="Arial" panose="020B0604020202020204" pitchFamily="34" charset="0"/>
                  <a:buChar char="•"/>
                </a:pPr>
                <a:r>
                  <a:rPr lang="en-IN" b="1" dirty="0"/>
                  <a:t>Model Pipeline:</a:t>
                </a:r>
                <a:r>
                  <a:rPr lang="en-IN" dirty="0"/>
                  <a:t> N-gram TF-IDF Vectorizer (</a:t>
                </a:r>
                <a14:m>
                  <m:oMath xmlns:m="http://schemas.openxmlformats.org/officeDocument/2006/math">
                    <m:r>
                      <a:rPr lang="en-IN">
                        <a:latin typeface="Cambria Math" panose="02040503050406030204" pitchFamily="18" charset="0"/>
                      </a:rPr>
                      <m:t>3,000</m:t>
                    </m:r>
                  </m:oMath>
                </a14:m>
                <a:r>
                  <a:rPr lang="en-IN" dirty="0"/>
                  <a:t> features, unigrams + bigrams) paired with a class-balanced </a:t>
                </a:r>
                <a:r>
                  <a:rPr lang="en-IN" b="1" dirty="0"/>
                  <a:t>Logistic Regression Classifier</a:t>
                </a:r>
                <a:r>
                  <a:rPr lang="en-IN" dirty="0"/>
                  <a:t>.</a:t>
                </a:r>
              </a:p>
              <a:p>
                <a:pPr marL="285750" lvl="0" indent="-285750">
                  <a:buFont typeface="Arial" panose="020B0604020202020204" pitchFamily="34" charset="0"/>
                  <a:buChar char="•"/>
                </a:pPr>
                <a:r>
                  <a:rPr lang="en-IN" b="1" dirty="0"/>
                  <a:t>Target Definition (Rating-Derived):</a:t>
                </a:r>
                <a:endParaRPr lang="en-IN" dirty="0"/>
              </a:p>
              <a:p>
                <a:pPr marL="742950" lvl="1" indent="-285750">
                  <a:buFont typeface="Arial" panose="020B0604020202020204" pitchFamily="34" charset="0"/>
                  <a:buChar char="•"/>
                </a:pPr>
                <a:r>
                  <a:rPr lang="en-IN" b="1" dirty="0"/>
                  <a:t>Positive:</a:t>
                </a:r>
                <a:r>
                  <a:rPr lang="en-IN" dirty="0"/>
                  <a:t> Ratings </a:t>
                </a:r>
                <a14:m>
                  <m:oMath xmlns:m="http://schemas.openxmlformats.org/officeDocument/2006/math">
                    <m:r>
                      <a:rPr lang="en-IN">
                        <a:latin typeface="Cambria Math" panose="02040503050406030204" pitchFamily="18" charset="0"/>
                      </a:rPr>
                      <m:t>4.0−5.0</m:t>
                    </m:r>
                  </m:oMath>
                </a14:m>
                <a:r>
                  <a:rPr lang="en-IN" dirty="0"/>
                  <a:t>(</a:t>
                </a:r>
                <a14:m>
                  <m:oMath xmlns:m="http://schemas.openxmlformats.org/officeDocument/2006/math">
                    <m:r>
                      <a:rPr lang="en-IN">
                        <a:latin typeface="Cambria Math" panose="02040503050406030204" pitchFamily="18" charset="0"/>
                      </a:rPr>
                      <m:t>63.0%</m:t>
                    </m:r>
                  </m:oMath>
                </a14:m>
                <a:r>
                  <a:rPr lang="en-IN" dirty="0"/>
                  <a:t> share)</a:t>
                </a:r>
              </a:p>
              <a:p>
                <a:pPr marL="742950" lvl="1" indent="-285750">
                  <a:buFont typeface="Arial" panose="020B0604020202020204" pitchFamily="34" charset="0"/>
                  <a:buChar char="•"/>
                </a:pPr>
                <a:r>
                  <a:rPr lang="en-IN" b="1" dirty="0"/>
                  <a:t>Neutral:</a:t>
                </a:r>
                <a:r>
                  <a:rPr lang="en-IN" dirty="0"/>
                  <a:t> Ratings </a:t>
                </a:r>
                <a14:m>
                  <m:oMath xmlns:m="http://schemas.openxmlformats.org/officeDocument/2006/math">
                    <m:r>
                      <a:rPr lang="en-IN">
                        <a:latin typeface="Cambria Math" panose="02040503050406030204" pitchFamily="18" charset="0"/>
                      </a:rPr>
                      <m:t>3.0−3.5</m:t>
                    </m:r>
                  </m:oMath>
                </a14:m>
                <a:r>
                  <a:rPr lang="en-IN" dirty="0"/>
                  <a:t>(</a:t>
                </a:r>
                <a14:m>
                  <m:oMath xmlns:m="http://schemas.openxmlformats.org/officeDocument/2006/math">
                    <m:r>
                      <a:rPr lang="en-IN">
                        <a:latin typeface="Cambria Math" panose="02040503050406030204" pitchFamily="18" charset="0"/>
                      </a:rPr>
                      <m:t>12.4%</m:t>
                    </m:r>
                  </m:oMath>
                </a14:m>
                <a:r>
                  <a:rPr lang="en-IN" dirty="0"/>
                  <a:t> share)</a:t>
                </a:r>
              </a:p>
              <a:p>
                <a:pPr marL="742950" lvl="1" indent="-285750">
                  <a:buFont typeface="Arial" panose="020B0604020202020204" pitchFamily="34" charset="0"/>
                  <a:buChar char="•"/>
                </a:pPr>
                <a:r>
                  <a:rPr lang="en-IN" b="1" dirty="0"/>
                  <a:t>Negative:</a:t>
                </a:r>
                <a:r>
                  <a:rPr lang="en-IN" dirty="0"/>
                  <a:t> Ratings </a:t>
                </a:r>
                <a14:m>
                  <m:oMath xmlns:m="http://schemas.openxmlformats.org/officeDocument/2006/math">
                    <m:r>
                      <a:rPr lang="en-IN">
                        <a:latin typeface="Cambria Math" panose="02040503050406030204" pitchFamily="18" charset="0"/>
                      </a:rPr>
                      <m:t>1.0−2.5</m:t>
                    </m:r>
                  </m:oMath>
                </a14:m>
                <a:r>
                  <a:rPr lang="en-IN" dirty="0"/>
                  <a:t>(</a:t>
                </a:r>
                <a14:m>
                  <m:oMath xmlns:m="http://schemas.openxmlformats.org/officeDocument/2006/math">
                    <m:r>
                      <a:rPr lang="en-IN">
                        <a:latin typeface="Cambria Math" panose="02040503050406030204" pitchFamily="18" charset="0"/>
                      </a:rPr>
                      <m:t>24.6%</m:t>
                    </m:r>
                  </m:oMath>
                </a14:m>
                <a:r>
                  <a:rPr lang="en-IN" dirty="0"/>
                  <a:t> share)</a:t>
                </a:r>
              </a:p>
              <a:p>
                <a:pPr marL="285750" lvl="0" indent="-285750">
                  <a:buFont typeface="Arial" panose="020B0604020202020204" pitchFamily="34" charset="0"/>
                  <a:buChar char="•"/>
                </a:pPr>
                <a:r>
                  <a:rPr lang="en-IN" b="1" dirty="0"/>
                  <a:t>Test Metrics (Stratified 20% Split, </a:t>
                </a:r>
                <a14:m>
                  <m:oMath xmlns:m="http://schemas.openxmlformats.org/officeDocument/2006/math">
                    <m:r>
                      <a:rPr lang="en-IN" i="1">
                        <a:latin typeface="Cambria Math" panose="02040503050406030204" pitchFamily="18" charset="0"/>
                      </a:rPr>
                      <m:t>𝑁</m:t>
                    </m:r>
                    <m:r>
                      <a:rPr lang="en-IN">
                        <a:latin typeface="Cambria Math" panose="02040503050406030204" pitchFamily="18" charset="0"/>
                      </a:rPr>
                      <m:t>=1,991</m:t>
                    </m:r>
                  </m:oMath>
                </a14:m>
                <a:r>
                  <a:rPr lang="en-IN" b="1" dirty="0"/>
                  <a:t>):</a:t>
                </a:r>
                <a:endParaRPr lang="en-IN" dirty="0"/>
              </a:p>
              <a:p>
                <a:pPr marL="742950" lvl="1" indent="-285750">
                  <a:buFont typeface="Arial" panose="020B0604020202020204" pitchFamily="34" charset="0"/>
                  <a:buChar char="•"/>
                </a:pPr>
                <a:r>
                  <a:rPr lang="en-IN" b="1" dirty="0"/>
                  <a:t>Overall Accuracy:</a:t>
                </a:r>
                <a:r>
                  <a:rPr lang="en-IN" dirty="0"/>
                  <a:t> </a:t>
                </a:r>
                <a:r>
                  <a:rPr lang="en-IN" b="1" dirty="0"/>
                  <a:t>75.9%</a:t>
                </a:r>
                <a:endParaRPr lang="en-IN" dirty="0"/>
              </a:p>
              <a:p>
                <a:pPr marL="742950" lvl="1" indent="-285750">
                  <a:buFont typeface="Arial" panose="020B0604020202020204" pitchFamily="34" charset="0"/>
                  <a:buChar char="•"/>
                </a:pPr>
                <a:r>
                  <a:rPr lang="en-IN" b="1" dirty="0"/>
                  <a:t>Positive Class:</a:t>
                </a:r>
                <a:r>
                  <a:rPr lang="en-IN" dirty="0"/>
                  <a:t> Precision: </a:t>
                </a:r>
                <a14:m>
                  <m:oMath xmlns:m="http://schemas.openxmlformats.org/officeDocument/2006/math">
                    <m:r>
                      <a:rPr lang="en-IN">
                        <a:latin typeface="Cambria Math" panose="02040503050406030204" pitchFamily="18" charset="0"/>
                      </a:rPr>
                      <m:t>0.92</m:t>
                    </m:r>
                  </m:oMath>
                </a14:m>
                <a:r>
                  <a:rPr lang="en-IN" dirty="0"/>
                  <a:t>| Recall: </a:t>
                </a:r>
                <a14:m>
                  <m:oMath xmlns:m="http://schemas.openxmlformats.org/officeDocument/2006/math">
                    <m:r>
                      <a:rPr lang="en-IN">
                        <a:latin typeface="Cambria Math" panose="02040503050406030204" pitchFamily="18" charset="0"/>
                      </a:rPr>
                      <m:t>0.81</m:t>
                    </m:r>
                  </m:oMath>
                </a14:m>
                <a:r>
                  <a:rPr lang="en-IN" dirty="0"/>
                  <a:t>| </a:t>
                </a:r>
                <a:r>
                  <a:rPr lang="en-IN" b="1" dirty="0"/>
                  <a:t>F1: 0.86</a:t>
                </a:r>
                <a:endParaRPr lang="en-IN" dirty="0"/>
              </a:p>
              <a:p>
                <a:pPr marL="742950" lvl="1" indent="-285750">
                  <a:buFont typeface="Arial" panose="020B0604020202020204" pitchFamily="34" charset="0"/>
                  <a:buChar char="•"/>
                </a:pPr>
                <a:r>
                  <a:rPr lang="en-IN" b="1" dirty="0"/>
                  <a:t>Negative Class:</a:t>
                </a:r>
                <a:r>
                  <a:rPr lang="en-IN" dirty="0"/>
                  <a:t> Precision: </a:t>
                </a:r>
                <a14:m>
                  <m:oMath xmlns:m="http://schemas.openxmlformats.org/officeDocument/2006/math">
                    <m:r>
                      <a:rPr lang="en-IN">
                        <a:latin typeface="Cambria Math" panose="02040503050406030204" pitchFamily="18" charset="0"/>
                      </a:rPr>
                      <m:t>0.74</m:t>
                    </m:r>
                  </m:oMath>
                </a14:m>
                <a:r>
                  <a:rPr lang="en-IN" dirty="0"/>
                  <a:t>| Recall: </a:t>
                </a:r>
                <a14:m>
                  <m:oMath xmlns:m="http://schemas.openxmlformats.org/officeDocument/2006/math">
                    <m:r>
                      <a:rPr lang="en-IN">
                        <a:latin typeface="Cambria Math" panose="02040503050406030204" pitchFamily="18" charset="0"/>
                      </a:rPr>
                      <m:t>0.75</m:t>
                    </m:r>
                  </m:oMath>
                </a14:m>
                <a:r>
                  <a:rPr lang="en-IN" dirty="0"/>
                  <a:t>| </a:t>
                </a:r>
                <a:r>
                  <a:rPr lang="en-IN" b="1" dirty="0"/>
                  <a:t>F1: 0.75</a:t>
                </a:r>
                <a:endParaRPr lang="en-IN" dirty="0"/>
              </a:p>
              <a:p>
                <a:pPr marL="742950" lvl="1" indent="-285750">
                  <a:buFont typeface="Arial" panose="020B0604020202020204" pitchFamily="34" charset="0"/>
                  <a:buChar char="•"/>
                </a:pPr>
                <a:r>
                  <a:rPr lang="en-IN" b="1" dirty="0"/>
                  <a:t>Neutral Class:</a:t>
                </a:r>
                <a:r>
                  <a:rPr lang="en-IN" dirty="0"/>
                  <a:t> F1-Score of </a:t>
                </a:r>
                <a14:m>
                  <m:oMath xmlns:m="http://schemas.openxmlformats.org/officeDocument/2006/math">
                    <m:r>
                      <a:rPr lang="en-IN">
                        <a:latin typeface="Cambria Math" panose="02040503050406030204" pitchFamily="18" charset="0"/>
                      </a:rPr>
                      <m:t>0.42</m:t>
                    </m:r>
                  </m:oMath>
                </a14:m>
                <a:r>
                  <a:rPr lang="en-IN" dirty="0"/>
                  <a:t>due to mixed sentiment language.</a:t>
                </a:r>
              </a:p>
            </p:txBody>
          </p:sp>
        </mc:Choice>
        <mc:Fallback xmlns="">
          <p:sp>
            <p:nvSpPr>
              <p:cNvPr id="2" name="TextBox 1">
                <a:extLst>
                  <a:ext uri="{FF2B5EF4-FFF2-40B4-BE49-F238E27FC236}">
                    <a16:creationId xmlns:a16="http://schemas.microsoft.com/office/drawing/2014/main" id="{EE5441FB-0332-8113-5FC8-35A40DBFB3AA}"/>
                  </a:ext>
                </a:extLst>
              </p:cNvPr>
              <p:cNvSpPr txBox="1">
                <a:spLocks noRot="1" noChangeAspect="1" noMove="1" noResize="1" noEditPoints="1" noAdjustHandles="1" noChangeArrowheads="1" noChangeShapeType="1" noTextEdit="1"/>
              </p:cNvSpPr>
              <p:nvPr/>
            </p:nvSpPr>
            <p:spPr>
              <a:xfrm>
                <a:off x="727587" y="2708586"/>
                <a:ext cx="10736826" cy="3139321"/>
              </a:xfrm>
              <a:prstGeom prst="rect">
                <a:avLst/>
              </a:prstGeom>
              <a:blipFill>
                <a:blip r:embed="rId2"/>
                <a:stretch>
                  <a:fillRect l="-341" t="-777" b="-2330"/>
                </a:stretch>
              </a:blipFill>
            </p:spPr>
            <p:txBody>
              <a:bodyPr/>
              <a:lstStyle/>
              <a:p>
                <a:r>
                  <a:rPr lang="en-IN">
                    <a:noFill/>
                  </a:rPr>
                  <a:t> </a:t>
                </a:r>
              </a:p>
            </p:txBody>
          </p:sp>
        </mc:Fallback>
      </mc:AlternateContent>
      <p:sp>
        <p:nvSpPr>
          <p:cNvPr id="3" name="Title 4">
            <a:extLst>
              <a:ext uri="{FF2B5EF4-FFF2-40B4-BE49-F238E27FC236}">
                <a16:creationId xmlns:a16="http://schemas.microsoft.com/office/drawing/2014/main" id="{42400C56-39D7-0557-FB74-DF6D0CAAC7F4}"/>
              </a:ext>
            </a:extLst>
          </p:cNvPr>
          <p:cNvSpPr txBox="1">
            <a:spLocks/>
          </p:cNvSpPr>
          <p:nvPr/>
        </p:nvSpPr>
        <p:spPr>
          <a:xfrm>
            <a:off x="1691148" y="203613"/>
            <a:ext cx="9144000" cy="1487535"/>
          </a:xfrm>
          <a:prstGeom prst="rect">
            <a:avLst/>
          </a:prstGeom>
          <a:solidFill>
            <a:schemeClr val="accent5">
              <a:lumMod val="20000"/>
              <a:lumOff val="80000"/>
            </a:schemeClr>
          </a:solidFill>
        </p:spPr>
        <p:txBody>
          <a:bodyP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5400" dirty="0"/>
              <a:t>Supervised NLP </a:t>
            </a:r>
            <a:r>
              <a:rPr lang="en-IN" sz="5400"/>
              <a:t>Architecture And </a:t>
            </a:r>
            <a:r>
              <a:rPr lang="en-IN" sz="5400" dirty="0"/>
              <a:t>Evaluation</a:t>
            </a:r>
          </a:p>
        </p:txBody>
      </p:sp>
      <p:sp>
        <p:nvSpPr>
          <p:cNvPr id="4" name="Subtitle 5">
            <a:extLst>
              <a:ext uri="{FF2B5EF4-FFF2-40B4-BE49-F238E27FC236}">
                <a16:creationId xmlns:a16="http://schemas.microsoft.com/office/drawing/2014/main" id="{91B68CDA-95B0-06FD-418A-467AF06A0CB4}"/>
              </a:ext>
            </a:extLst>
          </p:cNvPr>
          <p:cNvSpPr txBox="1">
            <a:spLocks/>
          </p:cNvSpPr>
          <p:nvPr/>
        </p:nvSpPr>
        <p:spPr>
          <a:xfrm>
            <a:off x="727587" y="2111112"/>
            <a:ext cx="10903974" cy="458685"/>
          </a:xfrm>
          <a:prstGeom prst="rect">
            <a:avLst/>
          </a:prstGeom>
          <a:solidFill>
            <a:schemeClr val="accent5">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TF-IDF + Logistic Regression Delivering 76% Out-of-Sample Accuracy</a:t>
            </a:r>
          </a:p>
        </p:txBody>
      </p:sp>
      <p:sp>
        <p:nvSpPr>
          <p:cNvPr id="5" name="TextBox 4">
            <a:extLst>
              <a:ext uri="{FF2B5EF4-FFF2-40B4-BE49-F238E27FC236}">
                <a16:creationId xmlns:a16="http://schemas.microsoft.com/office/drawing/2014/main" id="{A908CBE9-D9B0-35D8-F6B6-ED3BF5948938}"/>
              </a:ext>
            </a:extLst>
          </p:cNvPr>
          <p:cNvSpPr txBox="1"/>
          <p:nvPr/>
        </p:nvSpPr>
        <p:spPr>
          <a:xfrm>
            <a:off x="644013" y="5986696"/>
            <a:ext cx="10903974" cy="461665"/>
          </a:xfrm>
          <a:prstGeom prst="rect">
            <a:avLst/>
          </a:prstGeom>
          <a:solidFill>
            <a:schemeClr val="accent5">
              <a:lumMod val="20000"/>
              <a:lumOff val="80000"/>
            </a:schemeClr>
          </a:solidFill>
        </p:spPr>
        <p:txBody>
          <a:bodyPr wrap="square" rtlCol="0">
            <a:spAutoFit/>
          </a:bodyPr>
          <a:lstStyle/>
          <a:p>
            <a:r>
              <a:rPr lang="en-IN" sz="1200" dirty="0"/>
              <a:t>"We evaluated a TF-IDF and Logistic Regression model on an unseen 20% test split. It achieved strong precision on positive reviews (0.92) and balanced recall on negative reviews (0.75), making it a viable automated filter for detecting operational issues from raw customer text."</a:t>
            </a:r>
          </a:p>
        </p:txBody>
      </p:sp>
    </p:spTree>
    <p:extLst>
      <p:ext uri="{BB962C8B-B14F-4D97-AF65-F5344CB8AC3E}">
        <p14:creationId xmlns:p14="http://schemas.microsoft.com/office/powerpoint/2010/main" val="828198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8D2E58-4A7F-313C-FB59-C0A08CF7FE5E}"/>
              </a:ext>
            </a:extLst>
          </p:cNvPr>
          <p:cNvSpPr txBox="1"/>
          <p:nvPr/>
        </p:nvSpPr>
        <p:spPr>
          <a:xfrm>
            <a:off x="727587" y="2706498"/>
            <a:ext cx="10736826" cy="3139321"/>
          </a:xfrm>
          <a:prstGeom prst="rect">
            <a:avLst/>
          </a:prstGeom>
          <a:solidFill>
            <a:schemeClr val="accent5">
              <a:lumMod val="20000"/>
              <a:lumOff val="80000"/>
            </a:schemeClr>
          </a:solidFill>
        </p:spPr>
        <p:txBody>
          <a:bodyPr wrap="square" rtlCol="0">
            <a:spAutoFit/>
          </a:bodyPr>
          <a:lstStyle/>
          <a:p>
            <a:pPr marL="285750" lvl="0" indent="-285750">
              <a:buFont typeface="Arial" panose="020B0604020202020204" pitchFamily="34" charset="0"/>
              <a:buChar char="•"/>
            </a:pPr>
            <a:r>
              <a:rPr lang="en-IN" b="1" dirty="0"/>
              <a:t>Negative Coefficients (Failure Drivers):</a:t>
            </a:r>
            <a:endParaRPr lang="en-IN" dirty="0"/>
          </a:p>
          <a:p>
            <a:pPr marL="742950" lvl="1" indent="-285750">
              <a:buFont typeface="Arial" panose="020B0604020202020204" pitchFamily="34" charset="0"/>
              <a:buChar char="•"/>
            </a:pPr>
            <a:r>
              <a:rPr lang="en-IN" dirty="0"/>
              <a:t>Top tokens: worst, pathetic, bad, horrible, waste, poor, disappointed, bad experience.</a:t>
            </a:r>
          </a:p>
          <a:p>
            <a:pPr marL="742950" lvl="1" indent="-285750">
              <a:buFont typeface="Arial" panose="020B0604020202020204" pitchFamily="34" charset="0"/>
              <a:buChar char="•"/>
            </a:pPr>
            <a:r>
              <a:rPr lang="en-IN" b="1" dirty="0"/>
              <a:t>Insight:</a:t>
            </a:r>
            <a:r>
              <a:rPr lang="en-IN" dirty="0"/>
              <a:t> Complaints focus heavily on perceived financial loss (waste) and service breakdown, rather than subtle </a:t>
            </a:r>
            <a:r>
              <a:rPr lang="en-IN" dirty="0" err="1"/>
              <a:t>flavor</a:t>
            </a:r>
            <a:r>
              <a:rPr lang="en-IN" dirty="0"/>
              <a:t> profiles.</a:t>
            </a:r>
          </a:p>
          <a:p>
            <a:pPr marL="285750" lvl="0" indent="-285750">
              <a:buFont typeface="Arial" panose="020B0604020202020204" pitchFamily="34" charset="0"/>
              <a:buChar char="•"/>
            </a:pPr>
            <a:r>
              <a:rPr lang="en-IN" b="1" dirty="0"/>
              <a:t>Positive Coefficients (Delight Drivers):</a:t>
            </a:r>
            <a:endParaRPr lang="en-IN" dirty="0"/>
          </a:p>
          <a:p>
            <a:pPr marL="742950" lvl="1" indent="-285750">
              <a:buFont typeface="Arial" panose="020B0604020202020204" pitchFamily="34" charset="0"/>
              <a:buChar char="•"/>
            </a:pPr>
            <a:r>
              <a:rPr lang="en-IN" dirty="0"/>
              <a:t>Top tokens: awesome, amazing, best, love, loved, delicious, excellent, thanks.</a:t>
            </a:r>
          </a:p>
          <a:p>
            <a:pPr marL="742950" lvl="1" indent="-285750">
              <a:buFont typeface="Arial" panose="020B0604020202020204" pitchFamily="34" charset="0"/>
              <a:buChar char="•"/>
            </a:pPr>
            <a:r>
              <a:rPr lang="en-IN" b="1" dirty="0"/>
              <a:t>Insight:</a:t>
            </a:r>
            <a:r>
              <a:rPr lang="en-IN" dirty="0"/>
              <a:t> Diners express loyalty when staff show proactive hospitality (thanks, courteous) alongside food quality.</a:t>
            </a:r>
          </a:p>
          <a:p>
            <a:pPr marL="285750" lvl="0" indent="-285750">
              <a:buFont typeface="Arial" panose="020B0604020202020204" pitchFamily="34" charset="0"/>
              <a:buChar char="•"/>
            </a:pPr>
            <a:r>
              <a:rPr lang="en-IN" b="1" dirty="0"/>
              <a:t>Neutral Coefficients (Mediocrity Markers):</a:t>
            </a:r>
            <a:endParaRPr lang="en-IN" dirty="0"/>
          </a:p>
          <a:p>
            <a:pPr marL="742950" lvl="1" indent="-285750">
              <a:buFont typeface="Arial" panose="020B0604020202020204" pitchFamily="34" charset="0"/>
              <a:buChar char="•"/>
            </a:pPr>
            <a:r>
              <a:rPr lang="en-IN" dirty="0"/>
              <a:t>Top tokens: ambience, better, average, ok, okay, compared, fine.</a:t>
            </a:r>
          </a:p>
          <a:p>
            <a:pPr marL="742950" lvl="1" indent="-285750">
              <a:buFont typeface="Arial" panose="020B0604020202020204" pitchFamily="34" charset="0"/>
              <a:buChar char="•"/>
            </a:pPr>
            <a:r>
              <a:rPr lang="en-IN" b="1" dirty="0"/>
              <a:t>Insight:</a:t>
            </a:r>
            <a:r>
              <a:rPr lang="en-IN" dirty="0"/>
              <a:t> Words like 'okay' or 'decent' reflect met expectations without any memorable experience.</a:t>
            </a:r>
          </a:p>
        </p:txBody>
      </p:sp>
      <p:sp>
        <p:nvSpPr>
          <p:cNvPr id="3" name="Title 4">
            <a:extLst>
              <a:ext uri="{FF2B5EF4-FFF2-40B4-BE49-F238E27FC236}">
                <a16:creationId xmlns:a16="http://schemas.microsoft.com/office/drawing/2014/main" id="{0013BDCD-EC05-48DA-61DF-DA3B337AFD96}"/>
              </a:ext>
            </a:extLst>
          </p:cNvPr>
          <p:cNvSpPr txBox="1">
            <a:spLocks/>
          </p:cNvSpPr>
          <p:nvPr/>
        </p:nvSpPr>
        <p:spPr>
          <a:xfrm>
            <a:off x="1691148" y="203613"/>
            <a:ext cx="9144000" cy="1487536"/>
          </a:xfrm>
          <a:prstGeom prst="rect">
            <a:avLst/>
          </a:prstGeom>
          <a:solidFill>
            <a:schemeClr val="accent5">
              <a:lumMod val="20000"/>
              <a:lumOff val="80000"/>
            </a:schemeClr>
          </a:solidFill>
        </p:spPr>
        <p:txBody>
          <a:bodyP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5400" dirty="0"/>
              <a:t>Feature Importance And Lexical Drivers of Sentiment</a:t>
            </a:r>
          </a:p>
        </p:txBody>
      </p:sp>
      <p:sp>
        <p:nvSpPr>
          <p:cNvPr id="4" name="Subtitle 5">
            <a:extLst>
              <a:ext uri="{FF2B5EF4-FFF2-40B4-BE49-F238E27FC236}">
                <a16:creationId xmlns:a16="http://schemas.microsoft.com/office/drawing/2014/main" id="{B91F7DAF-B1EF-A268-C001-E5EB5FF280AC}"/>
              </a:ext>
            </a:extLst>
          </p:cNvPr>
          <p:cNvSpPr txBox="1">
            <a:spLocks/>
          </p:cNvSpPr>
          <p:nvPr/>
        </p:nvSpPr>
        <p:spPr>
          <a:xfrm>
            <a:off x="2000864" y="2106937"/>
            <a:ext cx="8524568" cy="458685"/>
          </a:xfrm>
          <a:prstGeom prst="rect">
            <a:avLst/>
          </a:prstGeom>
          <a:solidFill>
            <a:schemeClr val="accent5">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What Words Tell Us About Customer Delight vs. Churn</a:t>
            </a:r>
          </a:p>
        </p:txBody>
      </p:sp>
      <p:sp>
        <p:nvSpPr>
          <p:cNvPr id="5" name="TextBox 4">
            <a:extLst>
              <a:ext uri="{FF2B5EF4-FFF2-40B4-BE49-F238E27FC236}">
                <a16:creationId xmlns:a16="http://schemas.microsoft.com/office/drawing/2014/main" id="{E06DB745-9387-FD70-770E-4E26E7D37B1F}"/>
              </a:ext>
            </a:extLst>
          </p:cNvPr>
          <p:cNvSpPr txBox="1"/>
          <p:nvPr/>
        </p:nvSpPr>
        <p:spPr>
          <a:xfrm>
            <a:off x="644013" y="5986696"/>
            <a:ext cx="10903974" cy="461665"/>
          </a:xfrm>
          <a:prstGeom prst="rect">
            <a:avLst/>
          </a:prstGeom>
          <a:solidFill>
            <a:schemeClr val="accent5">
              <a:lumMod val="20000"/>
              <a:lumOff val="80000"/>
            </a:schemeClr>
          </a:solidFill>
        </p:spPr>
        <p:txBody>
          <a:bodyPr wrap="square" rtlCol="0">
            <a:spAutoFit/>
          </a:bodyPr>
          <a:lstStyle/>
          <a:p>
            <a:r>
              <a:rPr lang="en-IN" sz="1200" dirty="0"/>
              <a:t>"Looking at model weights, the strongest negative signal is 'waste'—indicating poor value perception—and 'pathetic', pointing to service failures. Conversely, positive sentiment is heavily tied to words like 'thanks' and 'courteous', proving that staff hospitality often outweighs food taste alone."</a:t>
            </a:r>
          </a:p>
        </p:txBody>
      </p:sp>
    </p:spTree>
    <p:extLst>
      <p:ext uri="{BB962C8B-B14F-4D97-AF65-F5344CB8AC3E}">
        <p14:creationId xmlns:p14="http://schemas.microsoft.com/office/powerpoint/2010/main" val="4084861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3D1EDD4-F7A8-93F1-3DE1-8973C52BB5DB}"/>
                  </a:ext>
                </a:extLst>
              </p:cNvPr>
              <p:cNvSpPr txBox="1"/>
              <p:nvPr/>
            </p:nvSpPr>
            <p:spPr>
              <a:xfrm>
                <a:off x="727587" y="2838989"/>
                <a:ext cx="10736826" cy="3139321"/>
              </a:xfrm>
              <a:prstGeom prst="rect">
                <a:avLst/>
              </a:prstGeom>
              <a:solidFill>
                <a:schemeClr val="accent5">
                  <a:lumMod val="20000"/>
                  <a:lumOff val="80000"/>
                </a:schemeClr>
              </a:solidFill>
            </p:spPr>
            <p:txBody>
              <a:bodyPr wrap="square" rtlCol="0">
                <a:spAutoFit/>
              </a:bodyPr>
              <a:lstStyle/>
              <a:p>
                <a:pPr marL="285750" lvl="0" indent="-285750">
                  <a:buFont typeface="Arial" panose="020B0604020202020204" pitchFamily="34" charset="0"/>
                  <a:buChar char="•"/>
                </a:pPr>
                <a:r>
                  <a:rPr lang="en-IN" b="1" dirty="0"/>
                  <a:t>Interactive </a:t>
                </a:r>
                <a:r>
                  <a:rPr lang="en-IN" b="1" dirty="0" err="1"/>
                  <a:t>Streamlit</a:t>
                </a:r>
                <a:r>
                  <a:rPr lang="en-IN" b="1" dirty="0"/>
                  <a:t> Platform:</a:t>
                </a:r>
                <a:endParaRPr lang="en-IN" dirty="0"/>
              </a:p>
              <a:p>
                <a:pPr marL="742950" lvl="1" indent="-285750">
                  <a:buFont typeface="Arial" panose="020B0604020202020204" pitchFamily="34" charset="0"/>
                  <a:buChar char="•"/>
                </a:pPr>
                <a:r>
                  <a:rPr lang="en-IN" dirty="0"/>
                  <a:t>Real-time dynamic filtering by restaurant venue and budget sliders (Cost for Two).</a:t>
                </a:r>
              </a:p>
              <a:p>
                <a:pPr marL="742950" lvl="1" indent="-285750">
                  <a:buFont typeface="Arial" panose="020B0604020202020204" pitchFamily="34" charset="0"/>
                  <a:buChar char="•"/>
                </a:pPr>
                <a:r>
                  <a:rPr lang="en-IN" dirty="0"/>
                  <a:t>Embedded inference sandbox allowing managers to paste review text and get instant sentiment classifications with confidence scores.</a:t>
                </a:r>
              </a:p>
              <a:p>
                <a:pPr marL="285750" lvl="0" indent="-285750">
                  <a:buFont typeface="Arial" panose="020B0604020202020204" pitchFamily="34" charset="0"/>
                  <a:buChar char="•"/>
                </a:pPr>
                <a:r>
                  <a:rPr lang="en-IN" b="1" dirty="0"/>
                  <a:t>Consolidated PDF Dossier Generator:</a:t>
                </a:r>
                <a:endParaRPr lang="en-IN" dirty="0"/>
              </a:p>
              <a:p>
                <a:pPr marL="742950" lvl="1" indent="-285750">
                  <a:buFont typeface="Arial" panose="020B0604020202020204" pitchFamily="34" charset="0"/>
                  <a:buChar char="•"/>
                </a:pPr>
                <a:r>
                  <a:rPr lang="en-IN" dirty="0"/>
                  <a:t>Powered by Python's </a:t>
                </a:r>
                <a:r>
                  <a:rPr lang="en-IN" dirty="0" err="1"/>
                  <a:t>reportlab</a:t>
                </a:r>
                <a:r>
                  <a:rPr lang="en-IN" dirty="0"/>
                  <a:t> with in-memory image rendering via </a:t>
                </a:r>
                <a:r>
                  <a:rPr lang="en-IN" dirty="0" err="1"/>
                  <a:t>ImageReader</a:t>
                </a:r>
                <a:r>
                  <a:rPr lang="en-IN" dirty="0"/>
                  <a:t>.</a:t>
                </a:r>
              </a:p>
              <a:p>
                <a:pPr marL="742950" lvl="1" indent="-285750">
                  <a:buFont typeface="Arial" panose="020B0604020202020204" pitchFamily="34" charset="0"/>
                  <a:buChar char="•"/>
                </a:pPr>
                <a:r>
                  <a:rPr lang="en-IN" b="1" dirty="0"/>
                  <a:t>Page 1:</a:t>
                </a:r>
                <a:r>
                  <a:rPr lang="en-IN" dirty="0"/>
                  <a:t> Executive portfolio scorecard (</a:t>
                </a:r>
                <a14:m>
                  <m:oMath xmlns:m="http://schemas.openxmlformats.org/officeDocument/2006/math">
                    <m:r>
                      <a:rPr lang="en-IN">
                        <a:latin typeface="Cambria Math" panose="02040503050406030204" pitchFamily="18" charset="0"/>
                      </a:rPr>
                      <m:t>100</m:t>
                    </m:r>
                  </m:oMath>
                </a14:m>
                <a:r>
                  <a:rPr lang="en-IN" dirty="0"/>
                  <a:t> venues, top 10 rankings, macro sentiment pie chart).</a:t>
                </a:r>
              </a:p>
              <a:p>
                <a:pPr marL="742950" lvl="1" indent="-285750">
                  <a:buFont typeface="Arial" panose="020B0604020202020204" pitchFamily="34" charset="0"/>
                  <a:buChar char="•"/>
                </a:pPr>
                <a:r>
                  <a:rPr lang="en-IN" b="1" dirty="0"/>
                  <a:t>Pages 2–101:</a:t>
                </a:r>
                <a:r>
                  <a:rPr lang="en-IN" dirty="0"/>
                  <a:t> Dedicated 1-page profile cards per restaurant containing star breakdowns, sentiment polarity bars, and representative customer quotes.</a:t>
                </a:r>
              </a:p>
              <a:p>
                <a:pPr marL="285750" lvl="0" indent="-285750">
                  <a:buFont typeface="Arial" panose="020B0604020202020204" pitchFamily="34" charset="0"/>
                  <a:buChar char="•"/>
                </a:pPr>
                <a:r>
                  <a:rPr lang="en-IN" b="1" dirty="0"/>
                  <a:t>Batch Export:</a:t>
                </a:r>
                <a:r>
                  <a:rPr lang="en-IN" dirty="0"/>
                  <a:t> Generates the complete 101-page executive brief in a single click without browser dependencies.</a:t>
                </a:r>
              </a:p>
            </p:txBody>
          </p:sp>
        </mc:Choice>
        <mc:Fallback xmlns="">
          <p:sp>
            <p:nvSpPr>
              <p:cNvPr id="2" name="TextBox 1">
                <a:extLst>
                  <a:ext uri="{FF2B5EF4-FFF2-40B4-BE49-F238E27FC236}">
                    <a16:creationId xmlns:a16="http://schemas.microsoft.com/office/drawing/2014/main" id="{E3D1EDD4-F7A8-93F1-3DE1-8973C52BB5DB}"/>
                  </a:ext>
                </a:extLst>
              </p:cNvPr>
              <p:cNvSpPr txBox="1">
                <a:spLocks noRot="1" noChangeAspect="1" noMove="1" noResize="1" noEditPoints="1" noAdjustHandles="1" noChangeArrowheads="1" noChangeShapeType="1" noTextEdit="1"/>
              </p:cNvSpPr>
              <p:nvPr/>
            </p:nvSpPr>
            <p:spPr>
              <a:xfrm>
                <a:off x="727587" y="2838989"/>
                <a:ext cx="10736826" cy="3139321"/>
              </a:xfrm>
              <a:prstGeom prst="rect">
                <a:avLst/>
              </a:prstGeom>
              <a:blipFill>
                <a:blip r:embed="rId2"/>
                <a:stretch>
                  <a:fillRect l="-341" t="-971" b="-2330"/>
                </a:stretch>
              </a:blipFill>
            </p:spPr>
            <p:txBody>
              <a:bodyPr/>
              <a:lstStyle/>
              <a:p>
                <a:r>
                  <a:rPr lang="en-IN">
                    <a:noFill/>
                  </a:rPr>
                  <a:t> </a:t>
                </a:r>
              </a:p>
            </p:txBody>
          </p:sp>
        </mc:Fallback>
      </mc:AlternateContent>
      <p:sp>
        <p:nvSpPr>
          <p:cNvPr id="3" name="Title 4">
            <a:extLst>
              <a:ext uri="{FF2B5EF4-FFF2-40B4-BE49-F238E27FC236}">
                <a16:creationId xmlns:a16="http://schemas.microsoft.com/office/drawing/2014/main" id="{CDCEF932-E33C-E54F-7249-A818E14655B0}"/>
              </a:ext>
            </a:extLst>
          </p:cNvPr>
          <p:cNvSpPr txBox="1">
            <a:spLocks/>
          </p:cNvSpPr>
          <p:nvPr/>
        </p:nvSpPr>
        <p:spPr>
          <a:xfrm>
            <a:off x="1376515" y="266168"/>
            <a:ext cx="9773265" cy="1674349"/>
          </a:xfrm>
          <a:prstGeom prst="rect">
            <a:avLst/>
          </a:prstGeom>
          <a:solidFill>
            <a:schemeClr val="accent5">
              <a:lumMod val="20000"/>
              <a:lumOff val="8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5400" dirty="0"/>
              <a:t>End-to-End Deployment: </a:t>
            </a:r>
            <a:r>
              <a:rPr lang="en-IN" sz="5400" dirty="0" err="1"/>
              <a:t>Streamlit</a:t>
            </a:r>
            <a:r>
              <a:rPr lang="en-IN" sz="5400" dirty="0"/>
              <a:t> And Automated Dossier</a:t>
            </a:r>
          </a:p>
        </p:txBody>
      </p:sp>
      <p:sp>
        <p:nvSpPr>
          <p:cNvPr id="4" name="Subtitle 5">
            <a:extLst>
              <a:ext uri="{FF2B5EF4-FFF2-40B4-BE49-F238E27FC236}">
                <a16:creationId xmlns:a16="http://schemas.microsoft.com/office/drawing/2014/main" id="{98F0E8D0-1018-73B6-B740-A6B1A76E0B4D}"/>
              </a:ext>
            </a:extLst>
          </p:cNvPr>
          <p:cNvSpPr txBox="1">
            <a:spLocks/>
          </p:cNvSpPr>
          <p:nvPr/>
        </p:nvSpPr>
        <p:spPr>
          <a:xfrm>
            <a:off x="2286000" y="2233708"/>
            <a:ext cx="7620000" cy="458685"/>
          </a:xfrm>
          <a:prstGeom prst="rect">
            <a:avLst/>
          </a:prstGeom>
          <a:solidFill>
            <a:schemeClr val="accent5">
              <a:lumMod val="20000"/>
              <a:lumOff val="80000"/>
            </a:schemeClr>
          </a:solidFill>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dirty="0"/>
              <a:t>Bridging Data Science with Stakeholder Usability</a:t>
            </a:r>
          </a:p>
        </p:txBody>
      </p:sp>
      <p:sp>
        <p:nvSpPr>
          <p:cNvPr id="5" name="TextBox 4">
            <a:extLst>
              <a:ext uri="{FF2B5EF4-FFF2-40B4-BE49-F238E27FC236}">
                <a16:creationId xmlns:a16="http://schemas.microsoft.com/office/drawing/2014/main" id="{BC195378-4C74-B7D9-60B5-F0E7697F91D6}"/>
              </a:ext>
            </a:extLst>
          </p:cNvPr>
          <p:cNvSpPr txBox="1"/>
          <p:nvPr/>
        </p:nvSpPr>
        <p:spPr>
          <a:xfrm>
            <a:off x="644013" y="6124906"/>
            <a:ext cx="10903974" cy="646331"/>
          </a:xfrm>
          <a:prstGeom prst="rect">
            <a:avLst/>
          </a:prstGeom>
          <a:solidFill>
            <a:schemeClr val="accent5">
              <a:lumMod val="20000"/>
              <a:lumOff val="80000"/>
            </a:schemeClr>
          </a:solidFill>
        </p:spPr>
        <p:txBody>
          <a:bodyPr wrap="square" rtlCol="0">
            <a:spAutoFit/>
          </a:bodyPr>
          <a:lstStyle/>
          <a:p>
            <a:r>
              <a:rPr lang="en-IN" sz="1200" dirty="0"/>
              <a:t>"To make this actionable for business users, we deployed an interactive </a:t>
            </a:r>
            <a:r>
              <a:rPr lang="en-IN" sz="1200" dirty="0" err="1"/>
              <a:t>Streamlit</a:t>
            </a:r>
            <a:r>
              <a:rPr lang="en-IN" sz="1200" dirty="0"/>
              <a:t> application featuring live filtering and a real-time sentiment prediction sandbox. Finally, we engineered a single-click export function that creates a 101-page PDF dossier summarizing every individual restaurant alongside executive portfolio benchmarks."</a:t>
            </a:r>
          </a:p>
        </p:txBody>
      </p:sp>
    </p:spTree>
    <p:extLst>
      <p:ext uri="{BB962C8B-B14F-4D97-AF65-F5344CB8AC3E}">
        <p14:creationId xmlns:p14="http://schemas.microsoft.com/office/powerpoint/2010/main" val="883828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A94D2D-4B65-1953-C509-BD4A13D824BA}"/>
              </a:ext>
            </a:extLst>
          </p:cNvPr>
          <p:cNvSpPr txBox="1"/>
          <p:nvPr/>
        </p:nvSpPr>
        <p:spPr>
          <a:xfrm>
            <a:off x="334297" y="373626"/>
            <a:ext cx="11582400" cy="6217087"/>
          </a:xfrm>
          <a:prstGeom prst="rect">
            <a:avLst/>
          </a:prstGeom>
          <a:solidFill>
            <a:schemeClr val="accent5">
              <a:lumMod val="20000"/>
              <a:lumOff val="80000"/>
            </a:schemeClr>
          </a:solidFill>
        </p:spPr>
        <p:txBody>
          <a:bodyPr wrap="square" rtlCol="0">
            <a:spAutoFit/>
          </a:bodyPr>
          <a:lstStyle/>
          <a:p>
            <a:pPr algn="ctr"/>
            <a:r>
              <a:rPr lang="en-IN" sz="2000" b="1" u="sng" dirty="0"/>
              <a:t>Key Analytical Insights</a:t>
            </a:r>
          </a:p>
          <a:p>
            <a:r>
              <a:rPr lang="en-IN" b="1" dirty="0"/>
              <a:t>A. Rating Distribution &amp; Diner Reviewing </a:t>
            </a:r>
            <a:r>
              <a:rPr lang="en-IN" b="1" dirty="0" err="1"/>
              <a:t>Behavior</a:t>
            </a:r>
            <a:endParaRPr lang="en-IN" b="1" dirty="0"/>
          </a:p>
          <a:p>
            <a:pPr marL="285750" lvl="0" indent="-285750">
              <a:buFont typeface="Arial" panose="020B0604020202020204" pitchFamily="34" charset="0"/>
              <a:buChar char="•"/>
            </a:pPr>
            <a:r>
              <a:rPr lang="en-IN" b="1" dirty="0"/>
              <a:t>Bimodal Polarization:</a:t>
            </a:r>
            <a:r>
              <a:rPr lang="en-IN" dirty="0"/>
              <a:t> Ratings cluster at the opposing poles: </a:t>
            </a:r>
            <a:r>
              <a:rPr lang="en-IN" b="1" dirty="0"/>
              <a:t>5.0 stars</a:t>
            </a:r>
            <a:r>
              <a:rPr lang="en-IN" dirty="0"/>
              <a:t> (the absolute majority) and </a:t>
            </a:r>
            <a:r>
              <a:rPr lang="en-IN" b="1" dirty="0"/>
              <a:t>1.0 stars</a:t>
            </a:r>
            <a:r>
              <a:rPr lang="en-IN" dirty="0"/>
              <a:t>. Middle ratings like 2.0 and 3.0 are noticeably less frequent. This indicates that customer review volume on Zomato is largely driven by extreme emotional events: either exceptional customer delight or severe service failures. </a:t>
            </a:r>
          </a:p>
          <a:p>
            <a:pPr marL="285750" lvl="0" indent="-285750">
              <a:buFont typeface="Arial" panose="020B0604020202020204" pitchFamily="34" charset="0"/>
              <a:buChar char="•"/>
            </a:pPr>
            <a:r>
              <a:rPr lang="en-IN" b="1" dirty="0"/>
              <a:t>Portfolio Mean vs. Median:</a:t>
            </a:r>
            <a:r>
              <a:rPr lang="en-IN" dirty="0"/>
              <a:t> The portfolio overall average rating is </a:t>
            </a:r>
            <a:r>
              <a:rPr lang="en-IN" b="1" dirty="0"/>
              <a:t>3.60 / 5.0</a:t>
            </a:r>
            <a:r>
              <a:rPr lang="en-IN" dirty="0"/>
              <a:t>, while the median customer rating sits at </a:t>
            </a:r>
            <a:r>
              <a:rPr lang="en-IN" b="1" dirty="0"/>
              <a:t>4.00 / 5.0</a:t>
            </a:r>
            <a:r>
              <a:rPr lang="en-IN" dirty="0"/>
              <a:t>. The lower mean relative to the median confirms that high-volume 1-star negative reviews exert a strong downward pull on overall scores. </a:t>
            </a:r>
          </a:p>
          <a:p>
            <a:pPr lvl="0"/>
            <a:endParaRPr lang="en-IN" dirty="0"/>
          </a:p>
          <a:p>
            <a:r>
              <a:rPr lang="en-IN" b="1" dirty="0"/>
              <a:t>B. Market Competition &amp; Top Performers</a:t>
            </a:r>
          </a:p>
          <a:p>
            <a:pPr marL="285750" lvl="0" indent="-285750">
              <a:buFont typeface="Arial" panose="020B0604020202020204" pitchFamily="34" charset="0"/>
              <a:buChar char="•"/>
            </a:pPr>
            <a:r>
              <a:rPr lang="en-IN" b="1" dirty="0"/>
              <a:t>Buffet and Experiential Formats Outperform:</a:t>
            </a:r>
            <a:r>
              <a:rPr lang="en-IN" dirty="0"/>
              <a:t> Across all 100 establishments </a:t>
            </a:r>
            <a:r>
              <a:rPr lang="en-IN" dirty="0" err="1"/>
              <a:t>analyzed</a:t>
            </a:r>
            <a:r>
              <a:rPr lang="en-IN" dirty="0"/>
              <a:t>, live-grill, barbecue, and sports-bar venues dominate customer satisfaction: </a:t>
            </a:r>
          </a:p>
          <a:p>
            <a:pPr marL="742950" lvl="1" indent="-285750">
              <a:buFont typeface="Arial" panose="020B0604020202020204" pitchFamily="34" charset="0"/>
              <a:buChar char="•"/>
            </a:pPr>
            <a:r>
              <a:rPr lang="en-IN" b="1" dirty="0"/>
              <a:t>AB's - Absolute Barbecues:</a:t>
            </a:r>
            <a:r>
              <a:rPr lang="en-IN" dirty="0"/>
              <a:t> </a:t>
            </a:r>
            <a:r>
              <a:rPr lang="en-IN" dirty="0" err="1"/>
              <a:t>Avg</a:t>
            </a:r>
            <a:r>
              <a:rPr lang="en-IN" dirty="0"/>
              <a:t> Rating </a:t>
            </a:r>
            <a:r>
              <a:rPr lang="en-IN" b="1" dirty="0"/>
              <a:t>4.88</a:t>
            </a:r>
            <a:r>
              <a:rPr lang="en-IN" dirty="0"/>
              <a:t>, Cost </a:t>
            </a:r>
            <a:r>
              <a:rPr lang="en-IN" b="1" dirty="0"/>
              <a:t>INR 1,500</a:t>
            </a:r>
            <a:r>
              <a:rPr lang="en-IN" dirty="0"/>
              <a:t>, Positive Sentiment </a:t>
            </a:r>
            <a:r>
              <a:rPr lang="en-IN" b="1" dirty="0"/>
              <a:t>97.0%</a:t>
            </a:r>
            <a:endParaRPr lang="en-IN" dirty="0"/>
          </a:p>
          <a:p>
            <a:pPr marL="742950" lvl="1" indent="-285750">
              <a:buFont typeface="Arial" panose="020B0604020202020204" pitchFamily="34" charset="0"/>
              <a:buChar char="•"/>
            </a:pPr>
            <a:r>
              <a:rPr lang="en-IN" b="1" dirty="0"/>
              <a:t>B-Dubs:</a:t>
            </a:r>
            <a:r>
              <a:rPr lang="en-IN" dirty="0"/>
              <a:t> </a:t>
            </a:r>
            <a:r>
              <a:rPr lang="en-IN" dirty="0" err="1"/>
              <a:t>Avg</a:t>
            </a:r>
            <a:r>
              <a:rPr lang="en-IN" dirty="0"/>
              <a:t> Rating </a:t>
            </a:r>
            <a:r>
              <a:rPr lang="en-IN" b="1" dirty="0"/>
              <a:t>4.81</a:t>
            </a:r>
            <a:r>
              <a:rPr lang="en-IN" dirty="0"/>
              <a:t>, Cost </a:t>
            </a:r>
            <a:r>
              <a:rPr lang="en-IN" b="1" dirty="0"/>
              <a:t>INR 1,600</a:t>
            </a:r>
            <a:r>
              <a:rPr lang="en-IN" dirty="0"/>
              <a:t>, Positive Sentiment </a:t>
            </a:r>
            <a:r>
              <a:rPr lang="en-IN" b="1" dirty="0"/>
              <a:t>96.0%</a:t>
            </a:r>
            <a:endParaRPr lang="en-IN" dirty="0"/>
          </a:p>
          <a:p>
            <a:pPr marL="742950" lvl="1" indent="-285750">
              <a:buFont typeface="Arial" panose="020B0604020202020204" pitchFamily="34" charset="0"/>
              <a:buChar char="•"/>
            </a:pPr>
            <a:r>
              <a:rPr lang="en-IN" b="1" dirty="0"/>
              <a:t>3B's - Buddies, Bar &amp; Barbecue:</a:t>
            </a:r>
            <a:r>
              <a:rPr lang="en-IN" dirty="0"/>
              <a:t> </a:t>
            </a:r>
            <a:r>
              <a:rPr lang="en-IN" dirty="0" err="1"/>
              <a:t>Avg</a:t>
            </a:r>
            <a:r>
              <a:rPr lang="en-IN" dirty="0"/>
              <a:t> Rating </a:t>
            </a:r>
            <a:r>
              <a:rPr lang="en-IN" b="1" dirty="0"/>
              <a:t>4.76</a:t>
            </a:r>
            <a:r>
              <a:rPr lang="en-IN" dirty="0"/>
              <a:t>, Cost </a:t>
            </a:r>
            <a:r>
              <a:rPr lang="en-IN" b="1" dirty="0"/>
              <a:t>INR 1,100</a:t>
            </a:r>
            <a:r>
              <a:rPr lang="en-IN" dirty="0"/>
              <a:t>, Positive Sentiment </a:t>
            </a:r>
            <a:r>
              <a:rPr lang="en-IN" b="1" dirty="0"/>
              <a:t>93.0%</a:t>
            </a:r>
            <a:endParaRPr lang="en-IN" dirty="0"/>
          </a:p>
          <a:p>
            <a:pPr marL="742950" lvl="1" indent="-285750">
              <a:buFont typeface="Arial" panose="020B0604020202020204" pitchFamily="34" charset="0"/>
              <a:buChar char="•"/>
            </a:pPr>
            <a:r>
              <a:rPr lang="en-IN" b="1" dirty="0"/>
              <a:t>Paradise:</a:t>
            </a:r>
            <a:r>
              <a:rPr lang="en-IN" dirty="0"/>
              <a:t> </a:t>
            </a:r>
            <a:r>
              <a:rPr lang="en-IN" dirty="0" err="1"/>
              <a:t>Avg</a:t>
            </a:r>
            <a:r>
              <a:rPr lang="en-IN" dirty="0"/>
              <a:t> Rating </a:t>
            </a:r>
            <a:r>
              <a:rPr lang="en-IN" b="1" dirty="0"/>
              <a:t>4.70</a:t>
            </a:r>
            <a:r>
              <a:rPr lang="en-IN" dirty="0"/>
              <a:t>, Cost </a:t>
            </a:r>
            <a:r>
              <a:rPr lang="en-IN" b="1" dirty="0"/>
              <a:t>INR 800</a:t>
            </a:r>
            <a:r>
              <a:rPr lang="en-IN" dirty="0"/>
              <a:t>, Positive Sentiment </a:t>
            </a:r>
            <a:r>
              <a:rPr lang="en-IN" b="1" dirty="0"/>
              <a:t>96.0%</a:t>
            </a:r>
            <a:endParaRPr lang="en-IN" dirty="0"/>
          </a:p>
          <a:p>
            <a:pPr marL="742950" lvl="1" indent="-285750">
              <a:buFont typeface="Arial" panose="020B0604020202020204" pitchFamily="34" charset="0"/>
              <a:buChar char="•"/>
            </a:pPr>
            <a:r>
              <a:rPr lang="en-IN" b="1" dirty="0" err="1"/>
              <a:t>Flechazo</a:t>
            </a:r>
            <a:r>
              <a:rPr lang="en-IN" b="1" dirty="0"/>
              <a:t>:</a:t>
            </a:r>
            <a:r>
              <a:rPr lang="en-IN" dirty="0"/>
              <a:t> </a:t>
            </a:r>
            <a:r>
              <a:rPr lang="en-IN" dirty="0" err="1"/>
              <a:t>Avg</a:t>
            </a:r>
            <a:r>
              <a:rPr lang="en-IN" dirty="0"/>
              <a:t> Rating </a:t>
            </a:r>
            <a:r>
              <a:rPr lang="en-IN" b="1" dirty="0"/>
              <a:t>4.66</a:t>
            </a:r>
            <a:r>
              <a:rPr lang="en-IN" dirty="0"/>
              <a:t>, Cost </a:t>
            </a:r>
            <a:r>
              <a:rPr lang="en-IN" b="1" dirty="0"/>
              <a:t>INR 1,300</a:t>
            </a:r>
            <a:r>
              <a:rPr lang="en-IN" dirty="0"/>
              <a:t>, Positive Sentiment </a:t>
            </a:r>
            <a:r>
              <a:rPr lang="en-IN" b="1" dirty="0"/>
              <a:t>91.0%</a:t>
            </a:r>
            <a:endParaRPr lang="en-IN" dirty="0"/>
          </a:p>
          <a:p>
            <a:pPr marL="285750" lvl="0" indent="-285750">
              <a:buFont typeface="Arial" panose="020B0604020202020204" pitchFamily="34" charset="0"/>
              <a:buChar char="•"/>
            </a:pPr>
            <a:r>
              <a:rPr lang="en-IN" b="1" dirty="0"/>
              <a:t>Lagging Venues:</a:t>
            </a:r>
            <a:r>
              <a:rPr lang="en-IN" dirty="0"/>
              <a:t> Budget counter-service and quick-service outlets struggle with negative reviews:</a:t>
            </a:r>
          </a:p>
          <a:p>
            <a:pPr marL="742950" lvl="1" indent="-285750">
              <a:buFont typeface="Arial" panose="020B0604020202020204" pitchFamily="34" charset="0"/>
              <a:buChar char="•"/>
            </a:pPr>
            <a:r>
              <a:rPr lang="en-IN" b="1" dirty="0"/>
              <a:t>Hotel Zara Hi-Fi:</a:t>
            </a:r>
            <a:r>
              <a:rPr lang="en-IN" dirty="0"/>
              <a:t> </a:t>
            </a:r>
            <a:r>
              <a:rPr lang="en-IN" dirty="0" err="1"/>
              <a:t>Avg</a:t>
            </a:r>
            <a:r>
              <a:rPr lang="en-IN" dirty="0"/>
              <a:t> Rating </a:t>
            </a:r>
            <a:r>
              <a:rPr lang="en-IN" b="1" dirty="0"/>
              <a:t>2.40</a:t>
            </a:r>
            <a:r>
              <a:rPr lang="en-IN" dirty="0"/>
              <a:t>, Negative Sentiment </a:t>
            </a:r>
            <a:r>
              <a:rPr lang="en-IN" b="1" dirty="0"/>
              <a:t>64.0%</a:t>
            </a:r>
            <a:endParaRPr lang="en-IN" dirty="0"/>
          </a:p>
          <a:p>
            <a:pPr marL="742950" lvl="1" indent="-285750">
              <a:buFont typeface="Arial" panose="020B0604020202020204" pitchFamily="34" charset="0"/>
              <a:buChar char="•"/>
            </a:pPr>
            <a:r>
              <a:rPr lang="en-IN" b="1" dirty="0"/>
              <a:t>Asian Meal Box:</a:t>
            </a:r>
            <a:r>
              <a:rPr lang="en-IN" dirty="0"/>
              <a:t> </a:t>
            </a:r>
            <a:r>
              <a:rPr lang="en-IN" dirty="0" err="1"/>
              <a:t>Avg</a:t>
            </a:r>
            <a:r>
              <a:rPr lang="en-IN" dirty="0"/>
              <a:t> Rating </a:t>
            </a:r>
            <a:r>
              <a:rPr lang="en-IN" b="1" dirty="0"/>
              <a:t>2.58</a:t>
            </a:r>
            <a:r>
              <a:rPr lang="en-IN" dirty="0"/>
              <a:t>, Negative Sentiment </a:t>
            </a:r>
            <a:r>
              <a:rPr lang="en-IN" b="1" dirty="0"/>
              <a:t>52.0%</a:t>
            </a:r>
            <a:endParaRPr lang="en-IN" dirty="0"/>
          </a:p>
          <a:p>
            <a:pPr marL="742950" lvl="1" indent="-285750">
              <a:buFont typeface="Arial" panose="020B0604020202020204" pitchFamily="34" charset="0"/>
              <a:buChar char="•"/>
            </a:pPr>
            <a:r>
              <a:rPr lang="en-IN" b="1" dirty="0" err="1"/>
              <a:t>Pakwaan</a:t>
            </a:r>
            <a:r>
              <a:rPr lang="en-IN" b="1" dirty="0"/>
              <a:t> Grand:</a:t>
            </a:r>
            <a:r>
              <a:rPr lang="en-IN" dirty="0"/>
              <a:t> </a:t>
            </a:r>
            <a:r>
              <a:rPr lang="en-IN" dirty="0" err="1"/>
              <a:t>Avg</a:t>
            </a:r>
            <a:r>
              <a:rPr lang="en-IN" dirty="0"/>
              <a:t> Rating </a:t>
            </a:r>
            <a:r>
              <a:rPr lang="en-IN" b="1" dirty="0"/>
              <a:t>2.71</a:t>
            </a:r>
            <a:r>
              <a:rPr lang="en-IN" dirty="0"/>
              <a:t>, Negative Sentiment </a:t>
            </a:r>
            <a:r>
              <a:rPr lang="en-IN" b="1" dirty="0"/>
              <a:t>46.0%</a:t>
            </a:r>
            <a:endParaRPr lang="en-IN" dirty="0"/>
          </a:p>
        </p:txBody>
      </p:sp>
    </p:spTree>
    <p:extLst>
      <p:ext uri="{BB962C8B-B14F-4D97-AF65-F5344CB8AC3E}">
        <p14:creationId xmlns:p14="http://schemas.microsoft.com/office/powerpoint/2010/main" val="4058138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E0EF99C-DBA1-8A30-7CF6-9743A8AD77CC}"/>
                  </a:ext>
                </a:extLst>
              </p:cNvPr>
              <p:cNvSpPr txBox="1"/>
              <p:nvPr/>
            </p:nvSpPr>
            <p:spPr>
              <a:xfrm>
                <a:off x="540774" y="756790"/>
                <a:ext cx="11110452" cy="5509200"/>
              </a:xfrm>
              <a:prstGeom prst="rect">
                <a:avLst/>
              </a:prstGeom>
              <a:solidFill>
                <a:schemeClr val="accent5">
                  <a:lumMod val="20000"/>
                  <a:lumOff val="80000"/>
                </a:schemeClr>
              </a:solidFill>
            </p:spPr>
            <p:txBody>
              <a:bodyPr wrap="square" rtlCol="0">
                <a:spAutoFit/>
              </a:bodyPr>
              <a:lstStyle/>
              <a:p>
                <a:r>
                  <a:rPr lang="en-IN" sz="1600" b="1" dirty="0"/>
                  <a:t>C. Cuisine Prevalence</a:t>
                </a:r>
              </a:p>
              <a:p>
                <a:pPr marL="285750" lvl="0" indent="-285750">
                  <a:buFont typeface="Arial" panose="020B0604020202020204" pitchFamily="34" charset="0"/>
                  <a:buChar char="•"/>
                </a:pPr>
                <a:r>
                  <a:rPr lang="en-IN" sz="1600" b="1" dirty="0"/>
                  <a:t>Market Saturation:</a:t>
                </a:r>
                <a:r>
                  <a:rPr lang="en-IN" sz="1600" dirty="0"/>
                  <a:t> </a:t>
                </a:r>
                <a:r>
                  <a:rPr lang="en-IN" sz="1600" b="1" dirty="0"/>
                  <a:t>North Indian</a:t>
                </a:r>
                <a:r>
                  <a:rPr lang="en-IN" sz="1600" dirty="0"/>
                  <a:t> (61 listings) and </a:t>
                </a:r>
                <a:r>
                  <a:rPr lang="en-IN" sz="1600" b="1" dirty="0"/>
                  <a:t>Chinese</a:t>
                </a:r>
                <a:r>
                  <a:rPr lang="en-IN" sz="1600" dirty="0"/>
                  <a:t> (43 listings) make up the majority of the dining options, followed by </a:t>
                </a:r>
                <a:r>
                  <a:rPr lang="en-IN" sz="1600" b="1" dirty="0"/>
                  <a:t>Continental</a:t>
                </a:r>
                <a:r>
                  <a:rPr lang="en-IN" sz="1600" dirty="0"/>
                  <a:t> (21), </a:t>
                </a:r>
                <a:r>
                  <a:rPr lang="en-IN" sz="1600" b="1" dirty="0"/>
                  <a:t>Biryani</a:t>
                </a:r>
                <a:r>
                  <a:rPr lang="en-IN" sz="1600" dirty="0"/>
                  <a:t> (16), and </a:t>
                </a:r>
                <a:r>
                  <a:rPr lang="en-IN" sz="1600" b="1" dirty="0"/>
                  <a:t>Fast Food / Asian</a:t>
                </a:r>
                <a:r>
                  <a:rPr lang="en-IN" sz="1600" dirty="0"/>
                  <a:t> (15 each). </a:t>
                </a:r>
              </a:p>
              <a:p>
                <a:pPr marL="285750" lvl="0" indent="-285750">
                  <a:buFont typeface="Arial" panose="020B0604020202020204" pitchFamily="34" charset="0"/>
                  <a:buChar char="•"/>
                </a:pPr>
                <a:r>
                  <a:rPr lang="en-IN" sz="1600" b="1" dirty="0"/>
                  <a:t>Differentiation Opportunity:</a:t>
                </a:r>
                <a:r>
                  <a:rPr lang="en-IN" sz="1600" dirty="0"/>
                  <a:t> Specialty formats (e.g., South Indian breakfast, artisan bakeries, and dedicated European kitchens) face less direct competition within this cluster.</a:t>
                </a:r>
              </a:p>
              <a:p>
                <a:pPr lvl="0"/>
                <a:endParaRPr lang="en-IN" sz="1600" dirty="0"/>
              </a:p>
              <a:p>
                <a:r>
                  <a:rPr lang="en-IN" sz="1600" b="1" dirty="0"/>
                  <a:t>D. Pricing vs. Satisfaction Relationship</a:t>
                </a:r>
              </a:p>
              <a:p>
                <a:pPr marL="285750" lvl="0" indent="-285750">
                  <a:buFont typeface="Arial" panose="020B0604020202020204" pitchFamily="34" charset="0"/>
                  <a:buChar char="•"/>
                </a:pPr>
                <a:r>
                  <a:rPr lang="en-IN" sz="1600" b="1" dirty="0"/>
                  <a:t>Positive Correlation (</a:t>
                </a:r>
                <a14:m>
                  <m:oMath xmlns:m="http://schemas.openxmlformats.org/officeDocument/2006/math">
                    <m:r>
                      <a:rPr lang="en-IN" sz="1600" i="1">
                        <a:latin typeface="Cambria Math" panose="02040503050406030204" pitchFamily="18" charset="0"/>
                      </a:rPr>
                      <m:t>𝑟</m:t>
                    </m:r>
                    <m:r>
                      <a:rPr lang="en-IN" sz="1600">
                        <a:latin typeface="Cambria Math" panose="02040503050406030204" pitchFamily="18" charset="0"/>
                      </a:rPr>
                      <m:t>=0.42</m:t>
                    </m:r>
                  </m:oMath>
                </a14:m>
                <a:r>
                  <a:rPr lang="en-IN" sz="1600" b="1" dirty="0"/>
                  <a:t>):</a:t>
                </a:r>
                <a:r>
                  <a:rPr lang="en-IN" sz="1600" dirty="0"/>
                  <a:t> A correlation coefficient of </a:t>
                </a:r>
                <a14:m>
                  <m:oMath xmlns:m="http://schemas.openxmlformats.org/officeDocument/2006/math">
                    <m:r>
                      <a:rPr lang="en-IN" sz="1600">
                        <a:latin typeface="Cambria Math" panose="02040503050406030204" pitchFamily="18" charset="0"/>
                      </a:rPr>
                      <m:t>0.42</m:t>
                    </m:r>
                  </m:oMath>
                </a14:m>
                <a:r>
                  <a:rPr lang="en-IN" sz="1600" dirty="0"/>
                  <a:t>between </a:t>
                </a:r>
                <a:r>
                  <a:rPr lang="en-IN" sz="1600" b="1" dirty="0"/>
                  <a:t>Average Cost for Two</a:t>
                </a:r>
                <a:r>
                  <a:rPr lang="en-IN" sz="1600" dirty="0"/>
                  <a:t> and </a:t>
                </a:r>
                <a:r>
                  <a:rPr lang="en-IN" sz="1600" b="1" dirty="0"/>
                  <a:t>Average Customer Rating</a:t>
                </a:r>
                <a:r>
                  <a:rPr lang="en-IN" sz="1600" dirty="0"/>
                  <a:t> demonstrates a moderate positive association. </a:t>
                </a:r>
              </a:p>
              <a:p>
                <a:pPr marL="285750" lvl="0" indent="-285750">
                  <a:buFont typeface="Arial" panose="020B0604020202020204" pitchFamily="34" charset="0"/>
                  <a:buChar char="•"/>
                </a:pPr>
                <a:r>
                  <a:rPr lang="en-IN" sz="1600" b="1" dirty="0"/>
                  <a:t>Higher Price Sets Higher Buffer:</a:t>
                </a:r>
                <a:r>
                  <a:rPr lang="en-IN" sz="1600" dirty="0"/>
                  <a:t> Venues charging </a:t>
                </a:r>
                <a:r>
                  <a:rPr lang="en-IN" sz="1600" b="1" dirty="0"/>
                  <a:t>INR 1,100 – 1,800 for two</a:t>
                </a:r>
                <a:r>
                  <a:rPr lang="en-IN" sz="1600" dirty="0"/>
                  <a:t> consistently score above </a:t>
                </a:r>
                <a:r>
                  <a:rPr lang="en-IN" sz="1600" b="1" dirty="0"/>
                  <a:t>4.2 / 5.0</a:t>
                </a:r>
                <a:r>
                  <a:rPr lang="en-IN" sz="1600" dirty="0"/>
                  <a:t> because of dedicated table service, hygiene protocols, and interior ambiance. Venues priced under </a:t>
                </a:r>
                <a:r>
                  <a:rPr lang="en-IN" sz="1600" b="1" dirty="0"/>
                  <a:t>INR 500 for two</a:t>
                </a:r>
                <a:r>
                  <a:rPr lang="en-IN" sz="1600" dirty="0"/>
                  <a:t> suffer from delivery delays, packaging issues, and inconsistent food temperatures, driving a larger share of 1-star ratings. </a:t>
                </a:r>
              </a:p>
              <a:p>
                <a:pPr marL="285750" lvl="0" indent="-285750">
                  <a:buFont typeface="Arial" panose="020B0604020202020204" pitchFamily="34" charset="0"/>
                  <a:buChar char="•"/>
                </a:pPr>
                <a:endParaRPr lang="en-IN" sz="1600" dirty="0"/>
              </a:p>
              <a:p>
                <a:r>
                  <a:rPr lang="en-IN" sz="1600" b="1" dirty="0"/>
                  <a:t>2. Business Conclusions And Recommendations</a:t>
                </a:r>
              </a:p>
              <a:p>
                <a:pPr marL="285750" indent="-285750">
                  <a:buFont typeface="Arial" panose="020B0604020202020204" pitchFamily="34" charset="0"/>
                  <a:buChar char="•"/>
                </a:pPr>
                <a:r>
                  <a:rPr lang="en-IN" sz="1600" b="1" dirty="0"/>
                  <a:t>Address Critical Operational Bottlenecks:</a:t>
                </a:r>
                <a:r>
                  <a:rPr lang="en-IN" sz="1600" dirty="0"/>
                  <a:t> Because 1-star reviews represent a primary driver of score drops, managing delivery hygiene, order correctness, and packaging is more impactful for raising ratings than minor recipe improvements. </a:t>
                </a:r>
              </a:p>
              <a:p>
                <a:pPr marL="285750" indent="-285750">
                  <a:buFont typeface="Arial" panose="020B0604020202020204" pitchFamily="34" charset="0"/>
                  <a:buChar char="•"/>
                </a:pPr>
                <a:r>
                  <a:rPr lang="en-IN" sz="1600" b="1" dirty="0"/>
                  <a:t>Value Perception in Mid-Tier Dining:</a:t>
                </a:r>
                <a:r>
                  <a:rPr lang="en-IN" sz="1600" dirty="0"/>
                  <a:t> Venues charging budget prices (INR 300–600) that frequently use pre-cooked items or poor packaging receive repeat complaints </a:t>
                </a:r>
                <a:r>
                  <a:rPr lang="en-IN" sz="1600" dirty="0" err="1"/>
                  <a:t>centered</a:t>
                </a:r>
                <a:r>
                  <a:rPr lang="en-IN" sz="1600" dirty="0"/>
                  <a:t> around waste and bad experience. Ensuring portion consistency directly reduces 1-star reviews. </a:t>
                </a:r>
              </a:p>
              <a:p>
                <a:pPr marL="285750" indent="-285750">
                  <a:buFont typeface="Arial" panose="020B0604020202020204" pitchFamily="34" charset="0"/>
                  <a:buChar char="•"/>
                </a:pPr>
                <a:r>
                  <a:rPr lang="en-IN" sz="1600" b="1" dirty="0"/>
                  <a:t>Front-of-House Service Training:</a:t>
                </a:r>
                <a:r>
                  <a:rPr lang="en-IN" sz="1600" dirty="0"/>
                  <a:t> Reviews for high-performing restaurants (e.g., Absolute Barbecues, 3B's, B-Dubs) repeatedly cite floor staff by name for courteous service. Staff engagement and rapid service recovery before the customer leaves the premises help prevent negative reviews online. </a:t>
                </a:r>
              </a:p>
            </p:txBody>
          </p:sp>
        </mc:Choice>
        <mc:Fallback xmlns="">
          <p:sp>
            <p:nvSpPr>
              <p:cNvPr id="2" name="TextBox 1">
                <a:extLst>
                  <a:ext uri="{FF2B5EF4-FFF2-40B4-BE49-F238E27FC236}">
                    <a16:creationId xmlns:a16="http://schemas.microsoft.com/office/drawing/2014/main" id="{CE0EF99C-DBA1-8A30-7CF6-9743A8AD77CC}"/>
                  </a:ext>
                </a:extLst>
              </p:cNvPr>
              <p:cNvSpPr txBox="1">
                <a:spLocks noRot="1" noChangeAspect="1" noMove="1" noResize="1" noEditPoints="1" noAdjustHandles="1" noChangeArrowheads="1" noChangeShapeType="1" noTextEdit="1"/>
              </p:cNvSpPr>
              <p:nvPr/>
            </p:nvSpPr>
            <p:spPr>
              <a:xfrm>
                <a:off x="540774" y="756790"/>
                <a:ext cx="11110452" cy="5509200"/>
              </a:xfrm>
              <a:prstGeom prst="rect">
                <a:avLst/>
              </a:prstGeom>
              <a:blipFill>
                <a:blip r:embed="rId2"/>
                <a:stretch>
                  <a:fillRect l="-329" t="-332" r="-549" b="-442"/>
                </a:stretch>
              </a:blipFill>
            </p:spPr>
            <p:txBody>
              <a:bodyPr/>
              <a:lstStyle/>
              <a:p>
                <a:r>
                  <a:rPr lang="en-IN">
                    <a:noFill/>
                  </a:rPr>
                  <a:t> </a:t>
                </a:r>
              </a:p>
            </p:txBody>
          </p:sp>
        </mc:Fallback>
      </mc:AlternateContent>
    </p:spTree>
    <p:extLst>
      <p:ext uri="{BB962C8B-B14F-4D97-AF65-F5344CB8AC3E}">
        <p14:creationId xmlns:p14="http://schemas.microsoft.com/office/powerpoint/2010/main" val="36444666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2006</Words>
  <Application>Microsoft Office PowerPoint</Application>
  <PresentationFormat>Widescreen</PresentationFormat>
  <Paragraphs>107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Cambria Math</vt:lpstr>
      <vt:lpstr>Office Theme</vt:lpstr>
      <vt:lpstr>End-to-End Zomato Analytics And Sentiment Intelligence</vt:lpstr>
      <vt:lpstr>Data Integrity And Preprocessing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Prajwal Dixith</dc:creator>
  <cp:lastModifiedBy>Prajwal Dixith</cp:lastModifiedBy>
  <cp:revision>3</cp:revision>
  <dcterms:created xsi:type="dcterms:W3CDTF">2026-10-07T05:39:58Z</dcterms:created>
  <dcterms:modified xsi:type="dcterms:W3CDTF">2026-10-07T06:37:44Z</dcterms:modified>
</cp:coreProperties>
</file>